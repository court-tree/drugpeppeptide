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19119d438f4520" /><Relationship Type="http://schemas.openxmlformats.org/officeDocument/2006/relationships/extended-properties" Target="/docProps/app.xml" Id="R328fb5d8f57e4ff3" /><Relationship Type="http://schemas.openxmlformats.org/officeDocument/2006/relationships/officeDocument" Target="/ppt/presentation.xml" Id="Ra43a196ec6114b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2bdb5a02a1413a"/>
  </p:sldMasterIdLst>
  <p:notesMasterIdLst>
    <p:notesMasterId xmlns:r="http://schemas.openxmlformats.org/officeDocument/2006/relationships" r:id="Re2d84fc519e143f6"/>
  </p:notesMasterIdLst>
  <p:sldIdLst>
    <p:sldId xmlns:r="http://schemas.openxmlformats.org/officeDocument/2006/relationships" id="256" r:id="R07f69947a2e34f38"/>
    <p:sldId xmlns:r="http://schemas.openxmlformats.org/officeDocument/2006/relationships" id="257" r:id="R78256b5de5394b3f"/>
    <p:sldId xmlns:r="http://schemas.openxmlformats.org/officeDocument/2006/relationships" id="258" r:id="Rf9b012b881ad4ed1"/>
    <p:sldId xmlns:r="http://schemas.openxmlformats.org/officeDocument/2006/relationships" id="259" r:id="R1a48aa3a55a14682"/>
    <p:sldId xmlns:r="http://schemas.openxmlformats.org/officeDocument/2006/relationships" id="260" r:id="Ra066928f65de428c"/>
    <p:sldId xmlns:r="http://schemas.openxmlformats.org/officeDocument/2006/relationships" id="261" r:id="R230379e67a204fa7"/>
    <p:sldId xmlns:r="http://schemas.openxmlformats.org/officeDocument/2006/relationships" id="262" r:id="Rf5a43dec5edd42cd"/>
    <p:sldId xmlns:r="http://schemas.openxmlformats.org/officeDocument/2006/relationships" id="263" r:id="Raf379bbc6c2a4933"/>
    <p:sldId xmlns:r="http://schemas.openxmlformats.org/officeDocument/2006/relationships" id="264" r:id="Rb385405f2a4e465f"/>
    <p:sldId xmlns:r="http://schemas.openxmlformats.org/officeDocument/2006/relationships" id="265" r:id="R1fb862ca89544de0"/>
    <p:sldId xmlns:r="http://schemas.openxmlformats.org/officeDocument/2006/relationships" id="266" r:id="R5395635039354947"/>
    <p:sldId xmlns:r="http://schemas.openxmlformats.org/officeDocument/2006/relationships" id="267" r:id="Rc362d7aaaf0c495f"/>
    <p:sldId xmlns:r="http://schemas.openxmlformats.org/officeDocument/2006/relationships" id="268" r:id="R90aaac8295304a90"/>
    <p:sldId xmlns:r="http://schemas.openxmlformats.org/officeDocument/2006/relationships" id="269" r:id="R55cc5c384d694e36"/>
    <p:sldId xmlns:r="http://schemas.openxmlformats.org/officeDocument/2006/relationships" id="270" r:id="R784e2142ebfa4e90"/>
    <p:sldId xmlns:r="http://schemas.openxmlformats.org/officeDocument/2006/relationships" id="271" r:id="R1bec8ee5021a45b5"/>
    <p:sldId xmlns:r="http://schemas.openxmlformats.org/officeDocument/2006/relationships" id="272" r:id="R91bb75fd3de84010"/>
    <p:sldId xmlns:r="http://schemas.openxmlformats.org/officeDocument/2006/relationships" id="273" r:id="R112beae8245646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d8c691f1364d51" /><Relationship Type="http://schemas.openxmlformats.org/officeDocument/2006/relationships/slideMaster" Target="/ppt/slideMasters/slideMaster1.xml" Id="R712bdb5a02a1413a" /><Relationship Type="http://schemas.openxmlformats.org/officeDocument/2006/relationships/notesMaster" Target="/ppt/notesMasters/notesMaster1.xml" Id="Re2d84fc519e143f6" /><Relationship Type="http://schemas.openxmlformats.org/officeDocument/2006/relationships/presProps" Target="/ppt/presProps.xml" Id="R0f5c7af88ee04abc" /><Relationship Type="http://schemas.openxmlformats.org/officeDocument/2006/relationships/tableStyles" Target="/ppt/tableStyles.xml" Id="Rf473319de8654c29" /><Relationship Type="http://schemas.openxmlformats.org/officeDocument/2006/relationships/slide" Target="/ppt/slides/slide1.xml" Id="R07f69947a2e34f38" /><Relationship Type="http://schemas.openxmlformats.org/officeDocument/2006/relationships/slide" Target="/ppt/slides/slide2.xml" Id="R78256b5de5394b3f" /><Relationship Type="http://schemas.openxmlformats.org/officeDocument/2006/relationships/slide" Target="/ppt/slides/slide3.xml" Id="Rf9b012b881ad4ed1" /><Relationship Type="http://schemas.openxmlformats.org/officeDocument/2006/relationships/slide" Target="/ppt/slides/slide4.xml" Id="R1a48aa3a55a14682" /><Relationship Type="http://schemas.openxmlformats.org/officeDocument/2006/relationships/slide" Target="/ppt/slides/slide5.xml" Id="Ra066928f65de428c" /><Relationship Type="http://schemas.openxmlformats.org/officeDocument/2006/relationships/slide" Target="/ppt/slides/slide6.xml" Id="R230379e67a204fa7" /><Relationship Type="http://schemas.openxmlformats.org/officeDocument/2006/relationships/slide" Target="/ppt/slides/slide7.xml" Id="Rf5a43dec5edd42cd" /><Relationship Type="http://schemas.openxmlformats.org/officeDocument/2006/relationships/slide" Target="/ppt/slides/slide8.xml" Id="Raf379bbc6c2a4933" /><Relationship Type="http://schemas.openxmlformats.org/officeDocument/2006/relationships/slide" Target="/ppt/slides/slide9.xml" Id="Rb385405f2a4e465f" /><Relationship Type="http://schemas.openxmlformats.org/officeDocument/2006/relationships/slide" Target="/ppt/slides/slide10.xml" Id="R1fb862ca89544de0" /><Relationship Type="http://schemas.openxmlformats.org/officeDocument/2006/relationships/slide" Target="/ppt/slides/slide11.xml" Id="R5395635039354947" /><Relationship Type="http://schemas.openxmlformats.org/officeDocument/2006/relationships/slide" Target="/ppt/slides/slide12.xml" Id="Rc362d7aaaf0c495f" /><Relationship Type="http://schemas.openxmlformats.org/officeDocument/2006/relationships/slide" Target="/ppt/slides/slide13.xml" Id="R90aaac8295304a90" /><Relationship Type="http://schemas.openxmlformats.org/officeDocument/2006/relationships/slide" Target="/ppt/slides/slide14.xml" Id="R55cc5c384d694e36" /><Relationship Type="http://schemas.openxmlformats.org/officeDocument/2006/relationships/slide" Target="/ppt/slides/slide15.xml" Id="R784e2142ebfa4e90" /><Relationship Type="http://schemas.openxmlformats.org/officeDocument/2006/relationships/slide" Target="/ppt/slides/slide16.xml" Id="R1bec8ee5021a45b5" /><Relationship Type="http://schemas.openxmlformats.org/officeDocument/2006/relationships/slide" Target="/ppt/slides/slide17.xml" Id="R91bb75fd3de84010" /><Relationship Type="http://schemas.openxmlformats.org/officeDocument/2006/relationships/slide" Target="/ppt/slides/slide18.xml" Id="R112beae8245646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1a7a23834e4c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8660985afc4b82" /><Relationship Type="http://schemas.openxmlformats.org/officeDocument/2006/relationships/notesMaster" Target="/ppt/notesMasters/notesMaster1.xml" Id="R996bc5909ddd49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b19752a2e7448f" /><Relationship Type="http://schemas.openxmlformats.org/officeDocument/2006/relationships/notesMaster" Target="/ppt/notesMasters/notesMaster1.xml" Id="Refc3478e8e244d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fea5018f2a4a77" /><Relationship Type="http://schemas.openxmlformats.org/officeDocument/2006/relationships/notesMaster" Target="/ppt/notesMasters/notesMaster1.xml" Id="R7ae7cfe9c81445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12a14f68124bb8" /><Relationship Type="http://schemas.openxmlformats.org/officeDocument/2006/relationships/notesMaster" Target="/ppt/notesMasters/notesMaster1.xml" Id="R32974147886b4b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1b90e8d8484304" /><Relationship Type="http://schemas.openxmlformats.org/officeDocument/2006/relationships/notesMaster" Target="/ppt/notesMasters/notesMaster1.xml" Id="Ra0f212e3cd5147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6acc9526924a8c" /><Relationship Type="http://schemas.openxmlformats.org/officeDocument/2006/relationships/notesMaster" Target="/ppt/notesMasters/notesMaster1.xml" Id="Rb9c8ff970bb947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c81a0bd9a14a93" /><Relationship Type="http://schemas.openxmlformats.org/officeDocument/2006/relationships/notesMaster" Target="/ppt/notesMasters/notesMaster1.xml" Id="R64de1b517ed34c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53444598464b8c" /><Relationship Type="http://schemas.openxmlformats.org/officeDocument/2006/relationships/notesMaster" Target="/ppt/notesMasters/notesMaster1.xml" Id="R259233dcee4e4f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8319a6c97e4482" /><Relationship Type="http://schemas.openxmlformats.org/officeDocument/2006/relationships/notesMaster" Target="/ppt/notesMasters/notesMaster1.xml" Id="Rd50845b99e5844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d75e13086a4ada" /><Relationship Type="http://schemas.openxmlformats.org/officeDocument/2006/relationships/notesMaster" Target="/ppt/notesMasters/notesMaster1.xml" Id="Rb82d7c8b0f0541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2e349d5a1e4b41" /><Relationship Type="http://schemas.openxmlformats.org/officeDocument/2006/relationships/notesMaster" Target="/ppt/notesMasters/notesMaster1.xml" Id="Rb30daae6e86e4f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29365a8350402e" /><Relationship Type="http://schemas.openxmlformats.org/officeDocument/2006/relationships/notesMaster" Target="/ppt/notesMasters/notesMaster1.xml" Id="R3dff7c756a8f40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3d5c18378a43b8" /><Relationship Type="http://schemas.openxmlformats.org/officeDocument/2006/relationships/notesMaster" Target="/ppt/notesMasters/notesMaster1.xml" Id="R4360f5ae7f234d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71e183fd11450f" /><Relationship Type="http://schemas.openxmlformats.org/officeDocument/2006/relationships/notesMaster" Target="/ppt/notesMasters/notesMaster1.xml" Id="Ra16431cc0b7c40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63d62bceaf4864" /><Relationship Type="http://schemas.openxmlformats.org/officeDocument/2006/relationships/notesMaster" Target="/ppt/notesMasters/notesMaster1.xml" Id="Ra9cf659d7b6549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e2f54a03864314" /><Relationship Type="http://schemas.openxmlformats.org/officeDocument/2006/relationships/notesMaster" Target="/ppt/notesMasters/notesMaster1.xml" Id="R411b27372a7244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13713b2f1e4d01" /><Relationship Type="http://schemas.openxmlformats.org/officeDocument/2006/relationships/notesMaster" Target="/ppt/notesMasters/notesMaster1.xml" Id="R3966d5202d084d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067d55fbb94f23" /><Relationship Type="http://schemas.openxmlformats.org/officeDocument/2006/relationships/notesMaster" Target="/ppt/notesMasters/notesMaster1.xml" Id="Re142d0a82e4743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b4215e79242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ee462317234716" /><Relationship Type="http://schemas.openxmlformats.org/officeDocument/2006/relationships/slideLayout" Target="/ppt/slideLayouts/slideLayout1.xml" Id="Rc2de8d98b35349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de8d98b35349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67718b7d94b2a" /><Relationship Type="http://schemas.openxmlformats.org/officeDocument/2006/relationships/notesSlide" Target="/ppt/notesSlides/notesSlide1.xml" Id="Rb23b1755e5cd46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7185c86de446d" /><Relationship Type="http://schemas.openxmlformats.org/officeDocument/2006/relationships/notesSlide" Target="/ppt/notesSlides/notesSlide2.xml" Id="Rfd1ed04c06104e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6a9ff58ad4fb1" /><Relationship Type="http://schemas.openxmlformats.org/officeDocument/2006/relationships/notesSlide" Target="/ppt/notesSlides/notesSlide3.xml" Id="Rf5766750933746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d364ee2e946a0" /><Relationship Type="http://schemas.openxmlformats.org/officeDocument/2006/relationships/notesSlide" Target="/ppt/notesSlides/notesSlide4.xml" Id="R216bb5c31e7c4f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6f8eab0ea4dd9" /><Relationship Type="http://schemas.openxmlformats.org/officeDocument/2006/relationships/notesSlide" Target="/ppt/notesSlides/notesSlide5.xml" Id="R7398a52fb6ab40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909c1f30442a8" /><Relationship Type="http://schemas.openxmlformats.org/officeDocument/2006/relationships/notesSlide" Target="/ppt/notesSlides/notesSlide6.xml" Id="Rd8be3abd902948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25e593a89475a" /><Relationship Type="http://schemas.openxmlformats.org/officeDocument/2006/relationships/notesSlide" Target="/ppt/notesSlides/notesSlide7.xml" Id="Ra50286502a9a47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975139ecb44fb" /><Relationship Type="http://schemas.openxmlformats.org/officeDocument/2006/relationships/notesSlide" Target="/ppt/notesSlides/notesSlide8.xml" Id="Rc2987172dbd64f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e99337075414f" /><Relationship Type="http://schemas.openxmlformats.org/officeDocument/2006/relationships/notesSlide" Target="/ppt/notesSlides/notesSlide9.xml" Id="R56058ebce2a34b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6ef1411ae4cae" /><Relationship Type="http://schemas.openxmlformats.org/officeDocument/2006/relationships/notesSlide" Target="/ppt/notesSlides/notesSlide10.xml" Id="Rf80c135a9cc24c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8604d8e664950" /><Relationship Type="http://schemas.openxmlformats.org/officeDocument/2006/relationships/notesSlide" Target="/ppt/notesSlides/notesSlide11.xml" Id="R05296a9b62a540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41bc359914fe4" /><Relationship Type="http://schemas.openxmlformats.org/officeDocument/2006/relationships/notesSlide" Target="/ppt/notesSlides/notesSlide12.xml" Id="R871487fa753b4b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ea517c0e14abf" /><Relationship Type="http://schemas.openxmlformats.org/officeDocument/2006/relationships/notesSlide" Target="/ppt/notesSlides/notesSlide13.xml" Id="R4f11467fefea4f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f3032be34416e" /><Relationship Type="http://schemas.openxmlformats.org/officeDocument/2006/relationships/notesSlide" Target="/ppt/notesSlides/notesSlide14.xml" Id="R13608a8cb84741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ce8bda74e4942" /><Relationship Type="http://schemas.openxmlformats.org/officeDocument/2006/relationships/notesSlide" Target="/ppt/notesSlides/notesSlide15.xml" Id="R8eeaf4315d0d4b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6084450a64116" /><Relationship Type="http://schemas.openxmlformats.org/officeDocument/2006/relationships/notesSlide" Target="/ppt/notesSlides/notesSlide16.xml" Id="R301067e4d58643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23e67d64249b0" /><Relationship Type="http://schemas.openxmlformats.org/officeDocument/2006/relationships/notesSlide" Target="/ppt/notesSlides/notesSlide17.xml" Id="R8106e111ed3d4f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e065339d74cd5" /><Relationship Type="http://schemas.openxmlformats.org/officeDocument/2006/relationships/notesSlide" Target="/ppt/notesSlides/notesSlide18.xml" Id="Rd98e46aa332c42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1B5D5F-FFAB-40DE-9F3A-0B387F3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74EE3-BA33-48BE-BA0B-0ABBB0CE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11827"/>
                </a:solidFill>
              </a:defRPr>
            </a:pPr>
            <a:r>
              <a:rPr sz="4650" b="1">
                <a:solidFill>
                  <a:srgbClr val="111827"/>
                </a:solidFill>
              </a:rPr>
              <a:t>数据集构建算法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7EB4A-C1CF-4D97-8CD5-FC923DCC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B5563"/>
                </a:solidFill>
              </a:defRPr>
            </a:pPr>
            <a:r>
              <a:rPr sz="2025" b="0">
                <a:solidFill>
                  <a:srgbClr val="4B5563"/>
                </a:solidFill>
              </a:rPr>
              <a:t>从真实受体-肽复合物到构象增强微调数据集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6BB5F-4F97-49E9-91FA-60B3568D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361EA-0C72-49F7-8256-5BCE8F76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V1 基线 + V1.5/V2/V3 扩展路线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2924F-C08B-41FB-99EA-B191E165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14400"/>
            <a:ext cx="2857500" cy="40386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21596-61D8-4381-AD16-090BE595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38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本 PPT 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3AA1D-B3C6-4D6C-AA8E-214741E7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第一版数据集怎么构建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每一步输入、处理、输出是什么</a:t>
            </a:r>
          </a:p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后续构象增强如何接到同一条流水线</a:t>
            </a:r>
          </a:p>
        </p:txBody>
      </p:sp>
    </p:spTree>
    <p:extLst>
      <p:ext uri="{BB962C8B-B14F-4D97-AF65-F5344CB8AC3E}">
        <p14:creationId xmlns:p14="http://schemas.microsoft.com/office/powerpoint/2010/main" val="14097591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C3672-8D66-4AC1-8CDE-74C68DF3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40CC3-D8C4-458A-AB37-98EFCD4F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Phase-3 的目标：真实结构监督微调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9D5EA-7C70-4A77-A2C7-8CA6372A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7EEDA-A5EB-4D6D-A92C-8F36E7DE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20E0D-502E-498F-9792-DEEC09E3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857750" cy="12382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45350-B04F-4C7F-AA3C-CC7BCBB3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E699A-DD52-4DD5-B654-99519023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Phase-2 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F7358-36B5-4446-80DF-F72C51C4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教师数据 -&gt; 双塔预训练 -&gt; 配对检索验证 -&gt; 原始 Top-K 检索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01DEB-B2E4-4A2A-AB6A-CA08E7C0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857750" cy="12382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82219-2CF2-4417-8F03-44BB17BD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FAB5A-F4CC-45E8-8E6A-040C8912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Phase-3 要补上的监督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27B33-46E2-454C-BD8D-30CA1FC6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受体界面 &lt;-&gt; 真实肽结合构象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A6793-CBCE-4168-BFBF-209DB10F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0200"/>
            <a:ext cx="4667250" cy="2800350"/>
          </a:xfrm>
          <a:prstGeom xmlns:a="http://schemas.openxmlformats.org/drawingml/2006/main" prst="roundRect">
            <a:avLst>
              <a:gd name="adj" fmla="val 6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77A29-3D38-44E1-8334-40629144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66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核心目标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3C68F-40B3-4455-8203-59598F2F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4000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让模型不仅知道哪条肽可能结合当前受体界面，还要知道这条肽的哪种结合构象更适合当前界面。</a:t>
            </a:r>
          </a:p>
        </p:txBody>
      </p:sp>
    </p:spTree>
    <p:extLst>
      <p:ext uri="{BB962C8B-B14F-4D97-AF65-F5344CB8AC3E}">
        <p14:creationId xmlns:p14="http://schemas.microsoft.com/office/powerpoint/2010/main" val="1896039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B841EE-C861-49E4-B17D-3F370BEB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D3D05-DE2A-4A08-AD9D-40D48F6A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总体路线：先构建可信 V1，再逐步增强构象监督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CB2F4-8AA4-4CA3-9D96-4F7FE523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7658E-5264-460B-8B3B-054A8AD5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D469B-1302-4C9D-ABB6-F124800C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59080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E07F0-46BF-45F8-B608-8C199E94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740ED-DA65-4458-899D-FA726A8A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52600"/>
            <a:ext cx="1924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V1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真实结合配对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只用强正样本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382E3-D047-44EA-850D-61205719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38300"/>
            <a:ext cx="259080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C188A-A7EB-4EAB-A40B-8699F499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2E5D6-FD22-4E1A-A7D5-E053BD18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752600"/>
            <a:ext cx="1924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V1.5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完全同序列构象证据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证据统计和审计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4A22E-A7F1-48B0-9CA9-DAB07F99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38300"/>
            <a:ext cx="259080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098D7-EF6B-4DF4-89F7-1167E57B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A0199-773A-4FB4-80E9-C247CE5B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1924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V2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同簇弱正样本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构象困难负样本排序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DA9B0-A6D2-4F6F-A550-E00ADDC5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38300"/>
            <a:ext cx="259080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1BDA8-3EE8-41E9-854B-6718ECF7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4B23F-2D9B-4897-BCD1-D9056C05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52600"/>
            <a:ext cx="1924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V3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相似序列 / 模体先验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只作为先验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C6CA5-3C45-4CE4-AF13-8EF3870E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为什么要分版本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348B3-BB10-4E0A-B468-60567E2A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9620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36612-93B4-4BE0-890F-FF38D578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版本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0B379-80A5-42A7-B20F-46B9B5E2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52925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回答的问题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EBD0B-0A0D-4BEB-BDDF-A71543E3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62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F4758-6328-4F02-9D14-EFB0EED1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DC128-37AF-4FB4-B2BB-7A2A88DA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真实结合构象微调有没有用？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FA792-1B7E-4269-8115-4EEB797A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962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27479-F8CA-4411-A477-8E8D6731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V1.5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D4F9F-79A9-4306-B5F6-F4D9005A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同序列构象证据够不够支撑增强？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CE5AFF-91A5-4B5C-92EA-94D81B6D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62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79343-96A2-4AA5-9067-7F5A2D93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V2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768F4B-6029-459A-9230-81A1DD6B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007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构象增强训练是否提升受体-构象匹配？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B14241-A570-44EB-84FD-82236604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62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D0E9E-2592-4C7B-A6B5-E49C962F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V3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8EEAB7-C617-4C79-8C15-73D166F6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0198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相似序列 / 模体先验是否提供额外信息？</a:t>
            </a:r>
          </a:p>
        </p:txBody>
      </p:sp>
    </p:spTree>
    <p:extLst>
      <p:ext uri="{BB962C8B-B14F-4D97-AF65-F5344CB8AC3E}">
        <p14:creationId xmlns:p14="http://schemas.microsoft.com/office/powerpoint/2010/main" val="1748918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12FFF5-DE6C-4BAE-8F14-08225D4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4497D-B84C-43BE-B082-3F305841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V1 是 Phase-3 的最小可用数据集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C2651-4D55-4955-A1B3-842301E5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7E0BE-1E9E-419E-9E92-FC3F9780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74BE7-6D89-4CF9-8BCF-BDE04519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68580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936AB-A190-467E-BE0A-2F30F0BA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锚点样本 = 受体界面 + 真实肽结合构象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37B98-9F13-48F6-95EA-1AC964D7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49530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00A06-0B11-4B81-AEA8-0A1BBBEA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BE232-1998-4C20-90C6-A074A1F4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V1 只生成一种训练监督边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165AF-7DE9-4ADD-9726-E5CFB645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4591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强正样本：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受体界面 &lt;-&gt; 真实肽结合构象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5EADB-F5EF-44BD-BE4B-15B18223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5720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AC3B7-5CF7-4902-A346-F25519AC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8A73A-C477-4E7D-B170-23D5D5A5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V1 的目的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25391-B2A1-4562-A32A-3EB1A39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210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先建立一个干净问题：真实复合物里的受体界面和肽结合构象，能否作为 Phase-3 微调的有效强监督？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BFF1D-1D87-4EA7-8A55-94F85164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V1 不做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7ED58-7BF3-4BE7-99D4-B0C83BBC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95825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同簇弱正样本 / 构象困难负样本 / 相似序列先验 / 模体先验 / 多正样本损失 / 排序损失</a:t>
            </a:r>
          </a:p>
        </p:txBody>
      </p:sp>
    </p:spTree>
    <p:extLst>
      <p:ext uri="{BB962C8B-B14F-4D97-AF65-F5344CB8AC3E}">
        <p14:creationId xmlns:p14="http://schemas.microsoft.com/office/powerpoint/2010/main" val="2906772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5BAFC-BDCF-4A21-94C6-EBAEFA13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F081E-B080-4D8A-82F5-2FBD9934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第一步：收集真实受体-肽复合物候选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880C8-C4C0-43B4-B2D9-3CED8EE6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A521C-B68D-4036-8B26-1D359746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62BC2-B976-45CA-B366-91F78434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9055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C97C9-B820-4C1E-A7F5-9776E4B9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优先数据源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48953-FA44-4D0C-9024-D03D8904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859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F5478-69E1-4E52-A28D-E809A598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2AA9C-5EF7-43E3-9CE5-66403F45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Q-BioLiP / BioLiP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98069-627E-4447-AF03-D4ECFB32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288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已有受体-肽复合物注释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2118F-EB05-4394-AD98-6196AF83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233A6-3380-421B-B7CE-F195E143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PepBDB / Propedia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EF73B-7A57-468C-9F41-AFDE3E96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81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补充真实肽结合结构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A3BE7-52D6-4143-B332-8F367ABF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7A25D-7CAB-4D6A-B352-575F74E5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PDB 蛋白-肽记录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95D49-5477-44E0-B8B0-7B920CA8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作为结构级候选来源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7B0C5-E19C-489D-AE1B-B5485C22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0200"/>
            <a:ext cx="409575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6DFFE-0F49-4C0D-9733-5E1594B5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02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B909D-58D8-4229-A39C-8A65B7B7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每条候选记录需要包含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0EEF2-1C03-4CF4-8F6D-7EDC5455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3733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来源数据库、来源编号、PDB 编号、生物组装编号、结构文件、受体链、肽链、残基范围、来源可信度。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3E44F-BE02-466F-B576-1BD614A9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0957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DEE47-798F-4541-9704-C79BDA17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278B4-34EE-49D2-943F-091FE05E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148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不优先使用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0F475-EE1E-49BC-8A32-47A645E7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733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只有肽序列、只有活性信息、没有明确受体结合结构、没有受体链-肽链对应关系的数据。</a:t>
            </a:r>
          </a:p>
        </p:txBody>
      </p:sp>
    </p:spTree>
    <p:extLst>
      <p:ext uri="{BB962C8B-B14F-4D97-AF65-F5344CB8AC3E}">
        <p14:creationId xmlns:p14="http://schemas.microsoft.com/office/powerpoint/2010/main" val="3780745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AC03F-2633-4AD2-8D04-D472E72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776A7-A2E8-4185-A620-B091D137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V1 数据集构建流水线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E625F-C97C-4CA7-91B5-F0F7DB09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1975C-3114-41EE-B449-195CFF64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85A6D-C5B0-4308-871F-39630642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A448E-5607-4D32-BBC7-B37FB1BC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ED99C-9C5F-4B7D-B9EF-6C5184E1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收集真实复合物候选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95B07-F77F-4C6E-AEAA-E88A9CF5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F588E-15BB-40B8-B3D4-5BDD79C2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76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1623D-6BDA-4B0F-B14B-8FFB5EA4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764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多数据库候选去重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DCDD1-8707-4D08-99F0-081F217E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21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466AC-20F4-4849-B2D2-CD53322C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91D81-7958-48A4-8888-EE0ADD80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764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重建生物组装结构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E71CC-9E22-4AE8-903C-B6167E4E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621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46785-AB65-4101-83A3-B3C56548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1214E-4AC3-408E-9B92-FC95E349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764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定位受体链 / 肽链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10A04-FCF0-4453-9F9F-6FE95EA2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64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790EA-8238-4163-BDC3-DA61CF5F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0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5EC45C-2C21-4008-BAED-C8648E41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07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过滤肽链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EDE7B-8C85-4B41-82FF-D00670AF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464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F0490-C7B8-47C1-ACEC-4D130A1C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0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195DF-23FB-4813-921A-559AA360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07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验证受体-肽接触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30F7B-E7C4-4F37-899B-2F4E26A3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64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7A3F5-BC6F-4F60-92FE-53A59927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0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79C17A-6A47-4730-B79B-E88C6ECA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07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定义受体界面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4474F7-F74B-4E92-8CC2-036311E6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464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864C5C-7188-4C94-B805-374EF607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0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5585C-EF95-4ED3-A50B-D4FAA1AF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607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提取真实结合构象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194C2E-355F-40C0-8F52-9578C1CE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07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47FC9-5EE2-4EBC-BEA1-5EB9F6FD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5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FF0BD5-7282-41E2-885B-3C0F5D57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50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质量检查与锚点生成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60E97D-DA74-4D2E-8584-254959EF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307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68455-5771-4A33-8ADD-4C21ABCA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45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4A4C0F-68DC-4B39-B0B6-C4AFEBD4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450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防泄露划分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DFFD19-348A-4D84-A402-04047459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307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278654-CBD9-4F0C-8ACC-989D0EA8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45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DBF640-F944-49FF-9F33-A0A5D53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450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导出训练数据 A / 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6705E5-9909-424D-912D-2ACC77C7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30700"/>
            <a:ext cx="2590800" cy="123190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C70A29-0F7A-4D0B-B3E2-CD75CFF8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45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AC07E3-0485-407A-8932-AE7E114B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45000"/>
            <a:ext cx="192405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生成数据集审计</a:t>
            </a:r>
          </a:p>
        </p:txBody>
      </p:sp>
    </p:spTree>
    <p:extLst>
      <p:ext uri="{BB962C8B-B14F-4D97-AF65-F5344CB8AC3E}">
        <p14:creationId xmlns:p14="http://schemas.microsoft.com/office/powerpoint/2010/main" val="249176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09010-DF63-4EB3-B9E7-84EC2AFA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9AC73-3A8C-4BA6-A2B7-BB6432C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V1 步骤 1-2：候选收集与去重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F2911-DEA4-4941-918B-AC280D76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262A2-CC8C-48C1-9E8D-260F307A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F8650-C21A-451C-85C2-77E4AA20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1695450"/>
          </a:xfrm>
          <a:prstGeom xmlns:a="http://schemas.openxmlformats.org/drawingml/2006/main" prst="roundRect">
            <a:avLst>
              <a:gd name="adj" fmla="val 1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93402-1C43-459F-AC47-FDAAC14A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FDC06-5EC6-4911-BA7C-A93820AF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步骤 1：候选收集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55EEC-BEA6-43AB-AA0B-40BD66D1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591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每条记录必须能定位到 PDB 编号、生物组装编号、受体链、肽链、肽序列 / 残基范围和结构文件。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72F1E-F692-4222-9627-AD4E41DD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953000" cy="1695450"/>
          </a:xfrm>
          <a:prstGeom xmlns:a="http://schemas.openxmlformats.org/drawingml/2006/main" prst="roundRect">
            <a:avLst>
              <a:gd name="adj" fmla="val 1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88FB3-716B-4748-9EE9-316E89D8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EEB14-42DF-48EE-9A0F-5A9B2F3A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步骤 2：多数据库去重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CE712-6E42-4154-BB16-B7EDBF92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591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最低去重键：PDB 编号 + 生物组装编号 + 受体链 + 肽链。同一个复合物只保留一条主记录，同时保存来源列表。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883F6-942B-401A-8015-5855C6E2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4000500" cy="2667000"/>
          </a:xfrm>
          <a:prstGeom xmlns:a="http://schemas.openxmlformats.org/drawingml/2006/main" prst="roundRect">
            <a:avLst>
              <a:gd name="adj" fmla="val 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2B505-5391-4AA9-AC23-BFF5A5BE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目的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DF65D-BE7D-4B22-9E0C-F1E1A927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避免同一个锚点样本重复进入训练</a:t>
            </a:r>
          </a:p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避免同一个真实复合物跨数据划分泄露</a:t>
            </a:r>
          </a:p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保留多来源证据，便于后续审计</a:t>
            </a:r>
          </a:p>
        </p:txBody>
      </p:sp>
    </p:spTree>
    <p:extLst>
      <p:ext uri="{BB962C8B-B14F-4D97-AF65-F5344CB8AC3E}">
        <p14:creationId xmlns:p14="http://schemas.microsoft.com/office/powerpoint/2010/main" val="11052957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BB3820-EF52-44D1-9B4E-03B7FE5A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2DF7F-C8C7-4586-8D3C-16BDF57D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V1 步骤 3-5：结构重建与肽链过滤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15F2B-26C9-409F-B7AE-50456D7D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3FE01-13E0-4B81-8B1A-E35DF7F9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56874-4A8F-4206-BFC5-4D080A5F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16764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DCC24-BB8C-4F57-A7A9-D4C4BD0C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C0809-EADE-4D1C-A959-AC66E851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步骤 3：生物组装结构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2913E-1041-4674-A954-3CEEC072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读取 PDB/mmCIF -&gt; 使用生物组装结构 -&gt; 定位受体链和肽链。避免非对称单元带来的晶体接触误判。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EF153-A10D-40AF-97E0-BE96FD76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53000" cy="16764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08515-D8DC-4FBA-8DF4-6C5C0175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8DCD7-ADA8-4087-B009-FBD42A3D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步骤 4：肽链过滤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9FC9F-C0DD-4BB5-AE05-790EDA78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4591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只保留 8 &lt;= 肽长度 &lt;= 20；过滤残基不连续、主链缺失、非标准残基过多、缺失过多、非独立肽链等情况。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696FB-1325-4836-A94B-2FC5AD12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19300"/>
            <a:ext cx="4000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B527D-C6C6-49E8-94C7-A6B8945D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050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长度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13003-E189-434F-8700-D80C8A51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050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长度分组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D4CBA-ABA8-4D22-9BBC-10395649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AEF3F-D880-400A-98DD-78D70E0D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9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8-10 aa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57DCA-7EAE-40C4-854E-DFDA20DF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短肽组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05EE0-7F23-4012-BA7C-3E56AA4B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3C600-CE56-455D-9F42-C49B1097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242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11-15 aa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3C698-8C3E-4442-8470-7AAA4414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24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中短肽组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A5959A-B80E-466E-ACF7-DAD13AAA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4D91F-9C2D-4F97-A9F0-9A039784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16-20 aa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39AFE-3841-4F38-ACBC-93EFF86F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中长肽组</a:t>
            </a:r>
          </a:p>
        </p:txBody>
      </p:sp>
    </p:spTree>
    <p:extLst>
      <p:ext uri="{BB962C8B-B14F-4D97-AF65-F5344CB8AC3E}">
        <p14:creationId xmlns:p14="http://schemas.microsoft.com/office/powerpoint/2010/main" val="17210030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1077D0-BA1F-4ABF-ACF8-A42C3204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38B77-D7C5-4388-9C3F-4B7C6FDC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V1 步骤 6-7：接触验证与界面定义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B8907-4F20-4FF5-B9C6-AEE8F405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33AB5-4BAF-42F1-BB74-7F3346E8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FEBF6-C9F0-4E86-B5A2-DC3E4DB8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9530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43295-3F8F-4B08-906F-5B032A2B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461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最小重原子距离 &lt;= 5.0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09983-30C1-493D-AF1B-50E1F15B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并按肽长度检查接触数量与界面残基数量。短肽接触数自然较少但每个残基更关键，中长肽需要更高接触数量保证真实界面。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6E3D3-150C-4C56-85B9-C8FAC63C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095750" cy="12382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24AE8-188E-470E-B229-D35B2E7B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168A3-9A2D-4E1D-B9C2-01B0327A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5A 核心界面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9D647-984F-4939-A255-C70C7ED5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3733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受体中距离肽重原子 &lt;= 5 A 的残基；用于质量控制和核心接触统计。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DD6E1-E2E2-44AA-AB2C-3B39B8D6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095750" cy="12382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173A1-D0CA-4A13-95EB-48734862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3A6A6-5A71-4644-9506-6AFE47C9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10A 上下文区域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113BD-4B54-4D85-9280-E1567341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3733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受体中距离肽重原子 &lt;= 10 A 的残基；用于模型输入，提供周围结构环境。</a:t>
            </a:r>
          </a:p>
        </p:txBody>
      </p:sp>
    </p:spTree>
    <p:extLst>
      <p:ext uri="{BB962C8B-B14F-4D97-AF65-F5344CB8AC3E}">
        <p14:creationId xmlns:p14="http://schemas.microsoft.com/office/powerpoint/2010/main" val="9039240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DC7428-CF93-4541-8834-3A0C1641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AF5B1-CFB1-423F-9E33-0703A6A2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V1 步骤 8-9：真实结合构象与锚点样本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99246-1D1D-400B-AD43-E44129AF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EEBF5-9C15-4BE9-A658-AD703F40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ABFBD-9CDF-40F6-A5DA-809BC067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1600200"/>
          </a:xfrm>
          <a:prstGeom xmlns:a="http://schemas.openxmlformats.org/drawingml/2006/main" prst="roundRect">
            <a:avLst>
              <a:gd name="adj" fmla="val 1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B1682-B490-4CEE-B722-F377BBE8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E7364-236C-43A4-AA9B-6001E241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提取真实结合构象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9181A-44F0-44D5-8CD9-DE3D300C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591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从真实复合物肽链中提取肽序列、主链坐标 N/CA/C/O、全部非氢重原子坐标。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63E82-05C9-426F-93BB-7BFD5859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953000" cy="1600200"/>
          </a:xfrm>
          <a:prstGeom xmlns:a="http://schemas.openxmlformats.org/drawingml/2006/main" prst="roundRect">
            <a:avLst>
              <a:gd name="adj" fmla="val 1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FEA09-62FF-4B17-9113-E5932A18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A4109-D7AC-4AD6-BD1C-835B5D78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质量检查失败则删除整个锚点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AE1C8-32A4-49AB-9CB5-4408296C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591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主链原子缺失、残基不连续、序列对不上、缺失比例超标或坐标质量太差时，不保留该锚点样本。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FE2EF-81CB-48E4-BAD8-D84FCB54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4476750" cy="8191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D3054-A3E8-4185-BAE1-F1F4F87E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4133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锚点样本 = 受体界面 + 真实结合构象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91AF4-EBEE-4CB5-9ADE-11B34EEA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不能删除真实结合构象后继续保留受体界面。V1 的强正样本标签就来自这个真实结合构象。</a:t>
            </a:r>
          </a:p>
        </p:txBody>
      </p:sp>
    </p:spTree>
    <p:extLst>
      <p:ext uri="{BB962C8B-B14F-4D97-AF65-F5344CB8AC3E}">
        <p14:creationId xmlns:p14="http://schemas.microsoft.com/office/powerpoint/2010/main" val="688196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288AF-3B00-47AD-873F-77E1C880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60010-AD9D-4837-83F7-A81E78BC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V1 步骤 10：数据划分与防泄露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C3AF9-284C-4C2D-982A-B7233491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90286-D283-4DC7-A32C-15973484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EF23A-287B-4971-94EF-6B832007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为什么不能随机切配对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957AE-AB3F-4A71-A2C9-7E439750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同一肽序列可能同时出现在训练集和测试集</a:t>
            </a:r>
          </a:p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同一受体家族可能同时出现在训练集和测试集</a:t>
            </a:r>
          </a:p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同一 PDB 或高度相似结构可能跨划分泄露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4EC41-6568-4EB8-8F0B-3D2AE701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762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F856B-5A67-4FA9-BAC7-34587340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推荐划分层级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10F1D-BE48-4A92-A61B-27302F04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859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A9A35-2A40-4B0D-BA5E-61C26963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BE040-049B-4B0B-9AC6-2967CBDD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配对级划分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57A68-3A6E-4B42-9DE2-C802CB4E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基础合理性检查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FE1A2-1DE5-461B-8CDB-1EE48F41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AB41B-78E1-4FD4-BBE1-B831F59A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肽精确序列划分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24DC8-B0BA-41D3-A1EC-DD13C843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避免同序列泄露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9357A-4990-49D5-BB2E-BDAF0281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76EED-4494-44B3-94EF-4A1D1125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受体家族划分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BBBED-8585-4EA3-A0B3-8AA5939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23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避免受体家族泄露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1B037-0B21-4696-B9EF-AA3BB71C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BA39D-840C-43CD-B2C2-67A29189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严格划分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3511BF-278D-4128-88E0-5FFE934E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576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同时控制肽和受体相似性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7C8D4-8981-4399-A75C-52A5BCCD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5250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A4A8C-28D7-473F-8785-B9DAF289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918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每个样本保存：划分分组 / 所属集合 / 肽序列键 / 受体家族键 / PDB 键</a:t>
            </a:r>
          </a:p>
        </p:txBody>
      </p:sp>
    </p:spTree>
    <p:extLst>
      <p:ext uri="{BB962C8B-B14F-4D97-AF65-F5344CB8AC3E}">
        <p14:creationId xmlns:p14="http://schemas.microsoft.com/office/powerpoint/2010/main" val="14552383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A8166E-C483-434E-B194-4E20F08D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CDE47-37EF-48C5-AAAB-E06F7747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V1 输出表与训练入口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7AB11-6649-42AD-9E8C-8F0CB942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2FD9E-7A15-40FF-A255-E96C0B31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FB4BE-9DE3-4CF8-B522-0AC86EFE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6F6A1-4FCD-4CA5-A710-1017EA49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DE4A3-E7CD-44E9-B904-FD79873D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478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作用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5B9E8-992E-4D9E-A09C-B1A0FCE2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299B9-6D88-4F32-A433-E3F243D0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receptor_peptide_pair.jsonl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BF82F-5E19-4D9B-A948-2047AF3D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955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锚点 / 受体 / 肽配对信息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BEDBC-18DB-40BD-A82C-0D5BC7B3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B4617-398C-44BC-B478-34B4235E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peptide_conformer_evidence.jsonl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F41D5-E02E-47D6-A56C-2505EFCF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527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真实结合构象证据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BB543-321C-4F87-8F78-4071B0F5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435DB-A209-4578-BECC-B47F3376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conformer_cluster.jsonl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4F163-9F20-44C5-9273-B42E9BA6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099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结合构象的初始聚类 / 相似性信息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2905C-7E2D-4459-82DB-94ABFC62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6DA6B-AE8E-4D25-BE25-187293AB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track_a_&lt;split&gt;.jsonl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AD2DC-99B1-4ADE-B2F8-086D3A62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67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序列侧 / 受体侧训练输入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E031D-1D76-4A80-8965-CAF17DCA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B2094-9A3C-4388-BDA0-67BF5881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track_b_&lt;split&gt;.jsonl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27B3C-3F2F-4F60-A949-61F11B8B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243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构象侧 / 三维训练输入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2C2FD-8F6E-459F-97AE-DE3B6B2B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404BD-B371-4A38-8BD0-46A2AB15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dataset_audit.json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3C24F-48AC-43A0-81A1-71F07FAF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数量、过滤、划分统计、泄露检查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1CAC7D-8D62-416C-9586-8DFAFD0B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3086100" cy="1752600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79DEC-45E9-4FCD-B227-74998FA4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97C99E-496A-4D0D-B9E7-1BBE02E1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V1 训练与评估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778F4B-4E90-460D-B5E3-1240AEB6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527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训练集：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只用强正样本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验证/测试集：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只用强正样本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7497D7-B01E-449D-999D-26CEC48C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62400"/>
            <a:ext cx="3086100" cy="11811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E13266-7C5B-42AF-8993-0FAEB257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719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V1 的成果是一套可以训练、可以评估、可以审计的真实结构强监督数据集。</a:t>
            </a:r>
          </a:p>
        </p:txBody>
      </p:sp>
    </p:spTree>
    <p:extLst>
      <p:ext uri="{BB962C8B-B14F-4D97-AF65-F5344CB8AC3E}">
        <p14:creationId xmlns:p14="http://schemas.microsoft.com/office/powerpoint/2010/main" val="6789373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DAF490-4816-46E9-96E2-A3B9E32B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2B3A4-776F-49AE-8F66-A19DDE68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V1.5：完全同序列构象证据层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34463-CF00-4734-B2F0-06F80E68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8044B-BCD0-45AC-A42C-6D8FD4C4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6A26F-574A-4A71-BD8A-86B5FA12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1432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49B16-BD68-4EA3-A362-7A5A617D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8C0DD-6008-4587-9DF1-9246C5CF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CFCA2-BAE0-49AC-A185-A3E88BC0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V1 锚点样本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V1 真实结合构象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PDB 序列与 mmCIF 精确匹配证据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F4277-9166-4D02-94DF-D858748F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0200"/>
            <a:ext cx="35242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F66D3-7C77-439B-B174-9AAECB21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02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216BE-85B3-46E7-A83D-D4A4A30D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F8ECC-2D2D-4A71-A5F8-2D994720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对每个锚点肽序列搜索完全同序列构象：序列一致、覆盖完整、长度相同、无缺口。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5F314-21EE-405A-BD4A-45D50502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00200"/>
            <a:ext cx="28575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98C6E-9140-4CE8-A984-9B232F6B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002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1F2B6-15A4-4ADF-91D2-D97E00B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309"/>
                </a:solidFill>
              </a:defRPr>
            </a:pPr>
            <a:r>
              <a:rPr sz="1650" b="1">
                <a:solidFill>
                  <a:srgbClr val="B45309"/>
                </a:solidFill>
              </a:rPr>
              <a:t>硬规则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9D926-62C4-4648-BEAC-F0BF75B2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495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同序列构象池 = 真实结合构象 + 外部完全同序列构象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661F2-3C66-4643-94BA-13816F91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001250" cy="9906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7569E-9975-4389-8FAC-C0CB6382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65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输出：外部精确匹配构象 / 肽构象证据 / 构象聚类 / 真实结合构象到聚类的映射 / 构象挖掘摘要 / 数据集审计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8FFE2-EEDD-4D82-953D-F82A56AB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V1.5 默认只做覆盖率、聚类质量、真实构象映射和泄露审计，为 V2 做准备。</a:t>
            </a:r>
          </a:p>
        </p:txBody>
      </p:sp>
    </p:spTree>
    <p:extLst>
      <p:ext uri="{BB962C8B-B14F-4D97-AF65-F5344CB8AC3E}">
        <p14:creationId xmlns:p14="http://schemas.microsoft.com/office/powerpoint/2010/main" val="1169974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743001-E304-4D2E-B339-6E506AF3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04E9D-CF45-4861-AD77-F426199F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V2：构象增强训练怎么接入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4B64A-4A9E-4D79-87B3-63EBD700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71DC6-624E-463B-AF91-22F33B35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E8062-F1DB-4D09-958B-125661F3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143250" cy="180975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543C8-A6AE-4B53-9DBD-252D605F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5C6D1-0A24-4E60-95FA-7B49619A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V2 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AB474-CDB1-45E7-892F-2C8108F9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781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V1 锚点样本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V1.5 同序列构象池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完全同序列构象聚类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真实结合构象所属聚类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12FA4-61D8-421A-82F5-92D82AD1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0200"/>
            <a:ext cx="66675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1A44D-38BB-45AA-B93A-5EE5FB1C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859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监督边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D15EA-21FD-4DB8-BF20-684C8DAA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来源与训练语义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8BB69-5DFF-44EE-8143-00FBC7A3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6A164-7F0A-4593-95FF-47089A64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强正样本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F2D2A-13E7-4E19-BCB1-DC20402F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真实结合构象；权重 = 1.0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67298-716D-407C-BA50-A5F05D21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835B7-160C-4BA5-B9EF-7D6A0DF1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同簇弱正样本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2AA82-CC60-4707-B557-D64FD52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718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同序列 + 同构象簇；只用于训练；权重 0.3-0.5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A3F37-4D09-415E-AECB-A41589E3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433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DAA1A-8AEA-4175-822D-F843EDF0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构象困难负样本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5E8E5-3E7D-47E8-9AB8-B7ED33EE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同序列 + 不同构象簇；只用于训练；只进排序损失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97C83-B2BC-4323-AA35-3472F233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V2 不重新定义正样本来源。真实强正样本仍来自 V1 的真实结合构象；V2 只是在其周围增加同序列构象增强。</a:t>
            </a:r>
          </a:p>
        </p:txBody>
      </p:sp>
    </p:spTree>
    <p:extLst>
      <p:ext uri="{BB962C8B-B14F-4D97-AF65-F5344CB8AC3E}">
        <p14:creationId xmlns:p14="http://schemas.microsoft.com/office/powerpoint/2010/main" val="8847466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8603D7-47C4-45DC-9A11-BE12DCDE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CD636-3ADA-44EE-ACCE-5C35EBEE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V2 的训练改变在损失函数，不在 V1 强监督定义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85A52-F62A-4427-AB12-195C7D67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481B6-F5C5-444E-9E0D-5BC1D0E1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D5696-E577-4904-A9A9-7987EBC2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096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38752-F2CF-4652-B713-310D1838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总损失 = 一维序列检索损失 + 三维多正样本损失 + 融合多正样本损失 + 构象排序损失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A2B71-3519-43ED-8F5F-C3480A6E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0010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323A4-C728-443E-B70C-63C5AF64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分支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A3118-094A-4D40-868C-9B662128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098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使用样本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7C39D-8748-4A72-99ED-CF826A69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9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损失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462E3-22F7-4059-96CA-F111FFC1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73596-6D0E-40B3-8704-493AAEA2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一维序列分支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76536-09FC-4518-80FD-565FB8BF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只用强正样本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FDE2A-A567-4F1C-8636-C7D6B347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普通对比学习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83109-1BD4-4D30-AF6C-89658F4F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550E7-2EF9-4303-AD1B-F089878E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三维构象分支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80F44-8739-4949-A8CB-66723A46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909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强正样本 + 同簇弱正样本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2E6C8A-34F7-48FC-8B31-FA90127A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多正样本对比学习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DB3C2-89B8-4054-B287-31BCAFA4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1DCC9-D18D-4758-A0E3-4D3F90E0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融合分支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027EA-8479-45EF-B4AA-25B2AC64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86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强正样本 + 同簇弱正样本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C91C7-F38E-4A5B-BAC0-51BE73E7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多正样本对比学习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AED0E-974C-45EF-9BC0-5C905F23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76527-81D4-4E4C-8695-1C1BE91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排序分支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C77078-2E86-4197-8E22-6260DB0B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81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真实结合构象 vs 同序列异簇构象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E672F-90D6-4CE4-B21F-128A239D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间隔排序损失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00E7E-EFEE-4DCB-9551-AD1A627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667000" cy="2476500"/>
          </a:xfrm>
          <a:prstGeom xmlns:a="http://schemas.openxmlformats.org/drawingml/2006/main" prst="roundRect">
            <a:avLst>
              <a:gd name="adj" fmla="val 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CD6012-0EAB-4959-BD2A-D06744D4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93F0EA-EA2E-49CE-83DF-7B57AED3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语义边界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F63D3C-3862-482A-8799-FCA5FB06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095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不是肽序列级负样本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不进一维序列分支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不进普通负样本池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不进多正样本分母</a:t>
            </a:r>
          </a:p>
        </p:txBody>
      </p:sp>
    </p:spTree>
    <p:extLst>
      <p:ext uri="{BB962C8B-B14F-4D97-AF65-F5344CB8AC3E}">
        <p14:creationId xmlns:p14="http://schemas.microsoft.com/office/powerpoint/2010/main" val="5312872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215C4-EB1C-439A-ACA6-05CFC8CE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EDCE5-4B44-49FF-BD04-199807FF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V3：相似序列 / 模体先验怎么接入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DEF3E-BF3B-471F-A5AD-2C7DBF49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A0ED9-F315-44EA-87E1-285E0B63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CA9E2-7B6A-4490-922B-5685D1B9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7147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61AFC-E784-4EEB-8090-249CDA67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B7979-327C-4601-8173-34D7CE90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V3 动机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54C13-BFE4-412F-9B13-5472AF69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35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当完全同序列构象较少时，可以搜索相似序列构象和模体家族构象。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EAA8E-BAC3-4B63-907E-A23CA276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71475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88F66-6936-4BF9-AB0F-1C6E4A44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A00CD-476A-4FC3-B520-35E8159D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它代表什么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8AD19-6857-4620-B75E-82C7B705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35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相似肽 / 模体家族的构象先验；不是当前肽序列的真实构象监督。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B1D7D-1E6F-4BEF-AF77-C9EF70D9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81150"/>
            <a:ext cx="5334000" cy="180975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1B7FA-7964-4849-B25E-7C6C2E35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33550"/>
            <a:ext cx="49911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构象先验表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锚点编号 / 构象编号 / 先验类型 / 序列一致性 / 序列相似性 / 覆盖度 / 接触核心一致性 / 接触核心相似性 / 原因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2549F-C900-4C2F-945E-49433E20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29050"/>
            <a:ext cx="5334000" cy="11811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8B086-7F77-4643-A950-ACA8C6B6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290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05E34-9CC5-49B6-9F87-806EDBD9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497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硬边界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6680E-3089-4DC0-BF47-05394D26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497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V3 先验不参与同序列构象聚类、监督边生成、同簇弱正样本或构象困难负样本。</a:t>
            </a:r>
          </a:p>
        </p:txBody>
      </p:sp>
    </p:spTree>
    <p:extLst>
      <p:ext uri="{BB962C8B-B14F-4D97-AF65-F5344CB8AC3E}">
        <p14:creationId xmlns:p14="http://schemas.microsoft.com/office/powerpoint/2010/main" val="8239805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A768D-D38A-4EF8-A8C0-37CB5409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D653B-513A-4D66-94AE-E0CE1FE1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无论哪个版本，主评估都必须保持清洁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B3D37-4A1A-4F9A-B90E-4DE8B9D9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23905-2464-4A70-857C-DDB41E65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D7523-D211-47ED-826C-87190E62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14325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B20AA-F08E-44A4-813A-C83C85FF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A6345-D691-424F-9756-E418B06A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主评估只使用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C2B9F-7DD4-4864-86FC-BEACB4A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强正样本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41A6A-9488-4976-B93C-6B3461A5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442A4-87D0-4CC3-9C49-BD633B4E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A532D-F6FE-402B-A4A1-20DBF221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主评估回答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45182-858C-4D2E-9EA8-54A94CC3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模型能否识别真实受体-肽结合配对？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AD4F9-B969-402B-90B2-C5F9E095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3238500" cy="19050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9271C-47C5-485F-83A3-6B66147F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F4056-6CF8-44CE-A719-91306247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26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不进入主评估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EC9E4-C760-4E15-8822-32E31762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2876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同簇弱正样本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构象困难负样本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相似序列构象先验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模体构象先验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BC517-C74B-4F89-9F7E-89D11416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2857500" cy="23812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09479-4A13-41D7-8D4C-B229E9F3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43CBF-A0AA-4F9F-BED9-31EC843A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309"/>
                </a:solidFill>
              </a:defRPr>
            </a:pPr>
            <a:r>
              <a:rPr sz="1650" b="1">
                <a:solidFill>
                  <a:srgbClr val="B45309"/>
                </a:solidFill>
              </a:rPr>
              <a:t>可选诊断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B328D5-EB4A-4FEA-934A-BDEDC0FF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2495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构象排序诊断：比较真实结合构象和同序列异簇构象的分数。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先验诊断：分析先验是否提供额外排序信息。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2E8D2-43A1-4011-8672-77D556A3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主指标衡量真实配对检索；诊断指标衡量构象增强策略。两者必须分开汇报。</a:t>
            </a:r>
          </a:p>
        </p:txBody>
      </p:sp>
    </p:spTree>
    <p:extLst>
      <p:ext uri="{BB962C8B-B14F-4D97-AF65-F5344CB8AC3E}">
        <p14:creationId xmlns:p14="http://schemas.microsoft.com/office/powerpoint/2010/main" val="9859272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83DC1C-6652-4834-A762-28146491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PepCLIP Phase-3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3F4A9-7C70-4630-AED4-BA509222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阶段三数据集构建的实际实施顺序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E6AB5-506E-49D7-82C1-0A812DA4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135C6-F3A7-4048-855A-BE87F13E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07C29-3581-45E8-B5EC-D14F7F70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946400" cy="1114425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16E51-E2BB-41D8-B98D-06563253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85A34-2E80-4CDC-B8B1-80989180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2279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完成 V1 数据集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只用强正样本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43C8B-0F9B-4BF7-AEC2-3B86A63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600" y="1562100"/>
            <a:ext cx="2946400" cy="1114425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B5EC3-8D71-465B-BA81-CC7331DF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50" y="1676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06663-B0CA-4D1E-A1A4-E7B259B6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676400"/>
            <a:ext cx="2279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用 V1 跑基线训练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得到第一组结果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11463-EF79-45E8-86CA-EBB3F874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1562100"/>
            <a:ext cx="2946400" cy="1114425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CFA2C-70FD-4345-ADBF-3DBC8ED1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750" y="1676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A88B3-4724-41AE-B03E-75FF2DBD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1676400"/>
            <a:ext cx="2279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构建 V1.5 精确构象证据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覆盖率 / 聚类 / 泄露审计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FE2B2-3087-400A-A813-062461DA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946400" cy="1114425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41F1A-E26F-45E2-B84C-D8BC3135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BD0DB-7455-41BB-B6FD-959F09BD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43225"/>
            <a:ext cx="2279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实现 V2 监督边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同簇弱正 + 困难负样本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B7263-BE7D-493F-9997-D985CCC0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600" y="2828925"/>
            <a:ext cx="2946400" cy="1114425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06435-0E04-4BF0-AF41-3695C315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50" y="29432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80E1B-71F9-4672-BC68-02D81ED7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943225"/>
            <a:ext cx="2279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V2 稳定后实现 V3 先验</a:t>
            </a:r>
          </a:p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消融 / 重排序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6426D-8941-4C78-963D-FE6BDFBA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81915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AE361-3EAD-416D-96A5-86AF4DC9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阶段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F91B7-236C-4E91-8B2A-13A00EDE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交付物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C09740-3E80-4D9E-B7D9-E7DCAD4E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BCB80-5870-4E97-82EA-03A4D410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0DF85-AF10-41BE-86D6-2921536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14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基线数据集 + 数据审计 + 基线训练结果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8DBE16-24A2-4F91-A6B1-BCA2F0B8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99ABB9-E00B-43F1-A144-0AC1210C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V1.5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07672C-3D1A-47F9-B59D-FD7105C4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340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构象证据报告 + 聚类映射 + 审计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C9978-061D-4ED7-9ACB-02EB952B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8F12CE-24AD-405A-8B62-AA73557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V2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B0207B-D789-4AD8-A4D3-EE1A9C99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531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监督边 + 多正样本 / 排序训练消融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A3E5FE-B40D-4987-B508-B5B9624A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E9DBC3-5F7F-45F3-B1E2-3749E7AE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V3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D1AFDA-ABE9-46B7-9962-0C307AF5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722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构象先验 + 先验消融 / 重排序分析</a:t>
            </a:r>
          </a:p>
        </p:txBody>
      </p:sp>
    </p:spTree>
    <p:extLst>
      <p:ext uri="{BB962C8B-B14F-4D97-AF65-F5344CB8AC3E}">
        <p14:creationId xmlns:p14="http://schemas.microsoft.com/office/powerpoint/2010/main" val="437949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2026-06-30T00:36:42.9030000Z</dcterms:created>
  <dcterms:modified xsi:type="dcterms:W3CDTF">2026-06-30T00:36:42.9030000Z</dcterms:modified>
</coreProperties>
</file>