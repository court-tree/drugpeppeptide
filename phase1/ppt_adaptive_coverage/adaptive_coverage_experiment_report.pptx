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f6f810c667461c" /><Relationship Type="http://schemas.openxmlformats.org/officeDocument/2006/relationships/extended-properties" Target="/docProps/app.xml" Id="R38304fff8e1f4391" /><Relationship Type="http://schemas.openxmlformats.org/officeDocument/2006/relationships/officeDocument" Target="/ppt/presentation.xml" Id="Rcd8efc62d99441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03c1897e143e3"/>
  </p:sldMasterIdLst>
  <p:notesMasterIdLst>
    <p:notesMasterId xmlns:r="http://schemas.openxmlformats.org/officeDocument/2006/relationships" r:id="R3ba59e07e0444911"/>
  </p:notesMasterIdLst>
  <p:sldIdLst>
    <p:sldId xmlns:r="http://schemas.openxmlformats.org/officeDocument/2006/relationships" id="256" r:id="Re37cc98266274140"/>
    <p:sldId xmlns:r="http://schemas.openxmlformats.org/officeDocument/2006/relationships" id="257" r:id="Rf93270e6d1b7477a"/>
    <p:sldId xmlns:r="http://schemas.openxmlformats.org/officeDocument/2006/relationships" id="258" r:id="Rabe8bf7596074ed0"/>
    <p:sldId xmlns:r="http://schemas.openxmlformats.org/officeDocument/2006/relationships" id="259" r:id="R737269392c894ae0"/>
    <p:sldId xmlns:r="http://schemas.openxmlformats.org/officeDocument/2006/relationships" id="260" r:id="Re50a277a620649e8"/>
    <p:sldId xmlns:r="http://schemas.openxmlformats.org/officeDocument/2006/relationships" id="261" r:id="R859db701e541454b"/>
    <p:sldId xmlns:r="http://schemas.openxmlformats.org/officeDocument/2006/relationships" id="262" r:id="R739dd85bf7294c86"/>
    <p:sldId xmlns:r="http://schemas.openxmlformats.org/officeDocument/2006/relationships" id="263" r:id="Rabb9cc2d5449401c"/>
    <p:sldId xmlns:r="http://schemas.openxmlformats.org/officeDocument/2006/relationships" id="264" r:id="R5c88772a8c5a4a61"/>
    <p:sldId xmlns:r="http://schemas.openxmlformats.org/officeDocument/2006/relationships" id="265" r:id="Rb461fa7b4ca64925"/>
    <p:sldId xmlns:r="http://schemas.openxmlformats.org/officeDocument/2006/relationships" id="266" r:id="R3e006e35d5f54981"/>
    <p:sldId xmlns:r="http://schemas.openxmlformats.org/officeDocument/2006/relationships" id="267" r:id="R31b6ac7b1a1445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03c1897e143e3" /><Relationship Type="http://schemas.openxmlformats.org/officeDocument/2006/relationships/theme" Target="/ppt/theme/theme1.xml" Id="Re9ea8bdb4958426e" /><Relationship Type="http://schemas.openxmlformats.org/officeDocument/2006/relationships/notesMaster" Target="/ppt/notesMasters/notesMaster1.xml" Id="R3ba59e07e0444911" /><Relationship Type="http://schemas.openxmlformats.org/officeDocument/2006/relationships/presProps" Target="/ppt/presProps.xml" Id="Rc680e9ba61e14888" /><Relationship Type="http://schemas.openxmlformats.org/officeDocument/2006/relationships/viewProps" Target="/ppt/viewProps.xml" Id="Rc0111adb4ad24f46" /><Relationship Type="http://schemas.openxmlformats.org/officeDocument/2006/relationships/tableStyles" Target="/ppt/tableStyles.xml" Id="Rd76ba352d3624bc1" /><Relationship Type="http://schemas.openxmlformats.org/officeDocument/2006/relationships/slide" Target="/ppt/slides/slide1.xml" Id="Re37cc98266274140" /><Relationship Type="http://schemas.openxmlformats.org/officeDocument/2006/relationships/slide" Target="/ppt/slides/slide2.xml" Id="Rf93270e6d1b7477a" /><Relationship Type="http://schemas.openxmlformats.org/officeDocument/2006/relationships/slide" Target="/ppt/slides/slide3.xml" Id="Rabe8bf7596074ed0" /><Relationship Type="http://schemas.openxmlformats.org/officeDocument/2006/relationships/slide" Target="/ppt/slides/slide4.xml" Id="R737269392c894ae0" /><Relationship Type="http://schemas.openxmlformats.org/officeDocument/2006/relationships/slide" Target="/ppt/slides/slide5.xml" Id="Re50a277a620649e8" /><Relationship Type="http://schemas.openxmlformats.org/officeDocument/2006/relationships/slide" Target="/ppt/slides/slide6.xml" Id="R859db701e541454b" /><Relationship Type="http://schemas.openxmlformats.org/officeDocument/2006/relationships/slide" Target="/ppt/slides/slide7.xml" Id="R739dd85bf7294c86" /><Relationship Type="http://schemas.openxmlformats.org/officeDocument/2006/relationships/slide" Target="/ppt/slides/slide8.xml" Id="Rabb9cc2d5449401c" /><Relationship Type="http://schemas.openxmlformats.org/officeDocument/2006/relationships/slide" Target="/ppt/slides/slide9.xml" Id="R5c88772a8c5a4a61" /><Relationship Type="http://schemas.openxmlformats.org/officeDocument/2006/relationships/slide" Target="/ppt/slides/slide10.xml" Id="Rb461fa7b4ca64925" /><Relationship Type="http://schemas.openxmlformats.org/officeDocument/2006/relationships/slide" Target="/ppt/slides/slide11.xml" Id="R3e006e35d5f54981" /><Relationship Type="http://schemas.openxmlformats.org/officeDocument/2006/relationships/slide" Target="/ppt/slides/slide12.xml" Id="R31b6ac7b1a14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4203dca36044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PepCLIP Phase1">
  <a:themeElements>
    <a:clrScheme name="PepCLIP Phase1">
      <a:accent1>
        <a:srgbClr val="12B886"/>
      </a:accent1>
      <a:accent2>
        <a:srgbClr val="F59F0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pCLIP Phase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300576c7e84012" /><Relationship Type="http://schemas.openxmlformats.org/officeDocument/2006/relationships/notesMaster" Target="/ppt/notesMasters/notesMaster1.xml" Id="R17611dcc08884f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d71e0519504cb9" /><Relationship Type="http://schemas.openxmlformats.org/officeDocument/2006/relationships/notesMaster" Target="/ppt/notesMasters/notesMaster1.xml" Id="Racd984539ddd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911879b1343da" /><Relationship Type="http://schemas.openxmlformats.org/officeDocument/2006/relationships/notesMaster" Target="/ppt/notesMasters/notesMaster1.xml" Id="Re07db06d63bd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0170ff16414aa9" /><Relationship Type="http://schemas.openxmlformats.org/officeDocument/2006/relationships/notesMaster" Target="/ppt/notesMasters/notesMaster1.xml" Id="Rbf893c49ba48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83bcc97fc4cfa" /><Relationship Type="http://schemas.openxmlformats.org/officeDocument/2006/relationships/notesMaster" Target="/ppt/notesMasters/notesMaster1.xml" Id="Rb75f2063950a4e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a228340864687" /><Relationship Type="http://schemas.openxmlformats.org/officeDocument/2006/relationships/notesMaster" Target="/ppt/notesMasters/notesMaster1.xml" Id="Rcf6f38e5235548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0033a75ca4a32" /><Relationship Type="http://schemas.openxmlformats.org/officeDocument/2006/relationships/notesMaster" Target="/ppt/notesMasters/notesMaster1.xml" Id="Rb4806a721e0f41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b8b11935774c1c" /><Relationship Type="http://schemas.openxmlformats.org/officeDocument/2006/relationships/notesMaster" Target="/ppt/notesMasters/notesMaster1.xml" Id="Rbe7a77aeda5a40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657074e19144c8" /><Relationship Type="http://schemas.openxmlformats.org/officeDocument/2006/relationships/notesMaster" Target="/ppt/notesMasters/notesMaster1.xml" Id="R64d69fdcfb8344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e457ea6d974aa2" /><Relationship Type="http://schemas.openxmlformats.org/officeDocument/2006/relationships/notesMaster" Target="/ppt/notesMasters/notesMaster1.xml" Id="Red55210fb1874f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6e5c0c456e43ee" /><Relationship Type="http://schemas.openxmlformats.org/officeDocument/2006/relationships/notesMaster" Target="/ppt/notesMasters/notesMaster1.xml" Id="R3d2f11c0f6924b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e146561c1a483e" /><Relationship Type="http://schemas.openxmlformats.org/officeDocument/2006/relationships/notesMaster" Target="/ppt/notesMasters/notesMaster1.xml" Id="R259307168ed74f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f7fa36f11489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7D14686-7864-4CA4-8F5D-0BF80998CEF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E7CF085-AD53-4F36-9537-2155B40BE41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37A6D0-46B3-4B30-8960-35B18BF5F5C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CA4C6F-5715-49DD-A5E4-5A0C1D88FFF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0da51936354f26" /><Relationship Type="http://schemas.openxmlformats.org/officeDocument/2006/relationships/slideLayout" Target="/ppt/slideLayouts/slideLayout2.xml" Id="R351c055aec8e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1F879A-EA3F-4752-8EA8-C8889FE7B08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1c055aec8e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7a80eb1e145e5" /><Relationship Type="http://schemas.openxmlformats.org/officeDocument/2006/relationships/notesSlide" Target="/ppt/notesSlides/notesSlide1.xml" Id="Rdfb3aa39f9f247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e7e3036c94c17" /><Relationship Type="http://schemas.openxmlformats.org/officeDocument/2006/relationships/notesSlide" Target="/ppt/notesSlides/notesSlide2.xml" Id="R7dfd3247675940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8483d653c94243" /><Relationship Type="http://schemas.openxmlformats.org/officeDocument/2006/relationships/notesSlide" Target="/ppt/notesSlides/notesSlide3.xml" Id="R76d7611d6ed3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ae4f06d53342f8" /><Relationship Type="http://schemas.openxmlformats.org/officeDocument/2006/relationships/notesSlide" Target="/ppt/notesSlides/notesSlide4.xml" Id="Rb854b5c4518a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ec8d5e27a4061" /><Relationship Type="http://schemas.openxmlformats.org/officeDocument/2006/relationships/notesSlide" Target="/ppt/notesSlides/notesSlide5.xml" Id="Rde94a2f58fba43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da2c700724a53" /><Relationship Type="http://schemas.openxmlformats.org/officeDocument/2006/relationships/notesSlide" Target="/ppt/notesSlides/notesSlide6.xml" Id="Rf38790e6f2ae42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5cb316c4dd47a5" /><Relationship Type="http://schemas.openxmlformats.org/officeDocument/2006/relationships/notesSlide" Target="/ppt/notesSlides/notesSlide7.xml" Id="R264ca2c6b0764a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4d996aea24d25" /><Relationship Type="http://schemas.openxmlformats.org/officeDocument/2006/relationships/notesSlide" Target="/ppt/notesSlides/notesSlide8.xml" Id="Ra1ab65caeb4c41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ae32cd16ab42cb" /><Relationship Type="http://schemas.openxmlformats.org/officeDocument/2006/relationships/notesSlide" Target="/ppt/notesSlides/notesSlide9.xml" Id="R34001a44996548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6c6eb7b8ab47e2" /><Relationship Type="http://schemas.openxmlformats.org/officeDocument/2006/relationships/notesSlide" Target="/ppt/notesSlides/notesSlide10.xml" Id="Ra0e061d8653246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1972f2f75a408e" /><Relationship Type="http://schemas.openxmlformats.org/officeDocument/2006/relationships/notesSlide" Target="/ppt/notesSlides/notesSlide11.xml" Id="R850b4ef397e745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5d16c208a403c" /><Relationship Type="http://schemas.openxmlformats.org/officeDocument/2006/relationships/notesSlide" Target="/ppt/notesSlides/notesSlide12.xml" Id="R78d8e575c30a41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72358-F1A4-46FC-A764-5E159093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ADE6D-8DAE-4FC7-809C-A2AD5D7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-762000"/>
            <a:ext cx="5905500" cy="838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3AB14-9FA8-40B3-9C45-E27E979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3524250" cy="48577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D4E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733C4-2361-450D-A31A-A1675952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144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7101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Phase-1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1D86-E998-4DF6-A068-ACC7075D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609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算法逻辑与</a:t>
            </a:r>
          </a:p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最新全量结果复盘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6A704-85B9-4499-A689-416F569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19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34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02B"/>
                </a:solidFill>
              </a:defRPr>
            </a:pPr>
            <a:r>
              <a:rPr sz="1725" b="1">
                <a:solidFill>
                  <a:srgbClr val="15202B"/>
                </a:solidFill>
              </a:rPr>
              <a:t>当前主线：热点锚点生成 8-20 aa 候选，单条质量过滤，平均接触数带权抽样，受体+多肽联合去重。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4F26D-AE4F-4BBA-B79A-D9BBB31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590C"/>
                </a:solidFill>
              </a:defRPr>
            </a:pPr>
            <a:r>
              <a:rPr sz="1650" b="1">
                <a:solidFill>
                  <a:srgbClr val="E8590C"/>
                </a:solidFill>
              </a:rPr>
              <a:t>最新结论：Step3 按长度段保留候选有效，full_run_v4 成为当前推荐主结果。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F6D3E-B55D-45B3-8851-DB50DA57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809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C459E-CBCB-45B4-8C28-B8829F3F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F4091-504D-4C43-9EAA-EF6ABFCC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B886"/>
                </a:solidFill>
              </a:defRPr>
            </a:pPr>
            <a:r>
              <a:rPr sz="2250" b="1">
                <a:solidFill>
                  <a:srgbClr val="12B886"/>
                </a:solidFill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1D950-E73E-47A0-A468-8E7DBA7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Phase-1 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2C762-F324-4167-9741-CCCC583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428750" cy="-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从质控到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F88C5-022F-4849-9B1E-2DC605E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1809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1B4EE-9691-4B06-BDF9-44DB8766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F94AE-1172-4261-87B4-D827BA63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33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82F6"/>
                </a:solidFill>
              </a:defRPr>
            </a:pPr>
            <a:r>
              <a:rPr sz="2250" b="1">
                <a:solidFill>
                  <a:srgbClr val="3B82F6"/>
                </a:solidFill>
              </a:rPr>
              <a:t>170k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33B04-9999-4614-85CE-BC05AD87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full_run_v4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F69ED-CE8A-43BE-AF4B-9B51B553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67400"/>
            <a:ext cx="1428750" cy="-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最终样本量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0EAFA-00DC-4093-ADE5-2F872544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62500"/>
            <a:ext cx="1809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29EBC-6D5C-4B8C-8477-CE817D23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62500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863D8-3E7C-41A3-BC25-8626C1F5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48E8"/>
                </a:solidFill>
              </a:defRPr>
            </a:pPr>
            <a:r>
              <a:rPr sz="2250" b="1">
                <a:solidFill>
                  <a:srgbClr val="7048E8"/>
                </a:solidFill>
              </a:rPr>
              <a:t>10.65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825A1-34A2-4E95-AF2D-5847C62A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平均长度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43EB3-600E-4D67-827E-7107DECF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1428750" cy="-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较 v2 明显提升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6FF29-B64B-4EB1-B9D8-A5DA74D5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1/12</a:t>
            </a:r>
          </a:p>
        </p:txBody>
      </p:sp>
    </p:spTree>
    <p:extLst>
      <p:ext uri="{BB962C8B-B14F-4D97-AF65-F5344CB8AC3E}">
        <p14:creationId xmlns:p14="http://schemas.microsoft.com/office/powerpoint/2010/main" val="1038827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57CF2-8E75-4F9A-80F0-82EF510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ALGORITHM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5F009-DA3E-4D80-BCE6-FDCE93D9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当前 Phase-1 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421A1-CFAF-4B9C-996B-FD3083D3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先找少数真实界面热点，再生成连续窗口；先保证单条质量，再做代表性抽样和联合去重。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CF1A8-5037-43AD-B100-AA4249C4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485900" cy="2000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67F3B-12E6-4C6B-BB35-39DA8DB5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37E73-0CA1-4679-88CB-3BF1EA31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509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51A05-37BD-4C69-AA55-615559DF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结构质控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93545-11E5-4E86-B810-AD3CB582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18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5202B"/>
                </a:solidFill>
              </a:defRPr>
            </a:pPr>
            <a:r>
              <a:rPr sz="1125" b="0">
                <a:solidFill>
                  <a:srgbClr val="15202B"/>
                </a:solidFill>
              </a:rPr>
              <a:t>只保留结构和界面可靠的复合物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7D607-E924-4977-8BA2-9A85C630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485900" cy="2000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873DD-107A-40E2-95B2-4551127D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09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8C00C-0E35-4FF1-B499-75D63D20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86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509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01090-5BC5-463F-AB5D-C349C12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051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双向任务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E655B-ED2D-45F0-BA68-BC3C638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90900"/>
            <a:ext cx="118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5202B"/>
                </a:solidFill>
              </a:defRPr>
            </a:pPr>
            <a:r>
              <a:rPr sz="1125" b="0">
                <a:solidFill>
                  <a:srgbClr val="15202B"/>
                </a:solidFill>
              </a:rPr>
              <a:t>链对拆成 receptor / peptide-source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11154-92D0-4DAD-AC9C-CCFA698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1485900" cy="2000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37110-9483-4209-87C3-00D5373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9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D2672-8C1E-41B1-BE08-F8BA459C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86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509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CEB6D-7E79-44B3-B0AC-E969C39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051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热点候选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EA33E-FE56-4748-A02F-CCFFA60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90900"/>
            <a:ext cx="118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5202B"/>
                </a:solidFill>
              </a:defRPr>
            </a:pPr>
            <a:r>
              <a:rPr sz="1125" b="0">
                <a:solidFill>
                  <a:srgbClr val="15202B"/>
                </a:solidFill>
              </a:rPr>
              <a:t>少数 anchor 生成 8-20 aa 窗口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DE431-5402-4C12-83B6-E759E72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485900" cy="2000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C6A9D-B334-4A67-B8A0-1620856B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09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8194E-8F0E-450F-858A-7B6F966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86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509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71ACF-F0D6-4CF2-870A-BA63D08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051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单条过滤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58D58-C0CC-4B7F-BDFD-DCD99A09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90900"/>
            <a:ext cx="118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5202B"/>
                </a:solidFill>
              </a:defRPr>
            </a:pPr>
            <a:r>
              <a:rPr sz="1125" b="0">
                <a:solidFill>
                  <a:srgbClr val="15202B"/>
                </a:solidFill>
              </a:rPr>
              <a:t>连续性 + 接触质量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A2CE5-2562-4CD6-A809-A84C5144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1485900" cy="2000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6A96C-0F9C-4E84-AAAA-2F511D3C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A1C99-219B-4CC2-A983-31A47C03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509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80A82-D17C-4C48-902E-D0DF7E18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051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带权抽样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00813E-4804-460A-90D2-9A160A97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118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5202B"/>
                </a:solidFill>
              </a:defRPr>
            </a:pPr>
            <a:r>
              <a:rPr sz="1125" b="0">
                <a:solidFill>
                  <a:srgbClr val="15202B"/>
                </a:solidFill>
              </a:rPr>
              <a:t>avg_contact_count + 8-mer 上限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2B678-049B-423E-B608-B50CDD03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485900" cy="2000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DAE56-221A-4C5F-AA79-2717915F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9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A7C3B3-C647-4DF7-A849-2836343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509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E06319-D6E9-4144-A8CE-367B1759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051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联合去重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417676-B610-43E0-9B10-D3DA3CC2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118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5202B"/>
                </a:solidFill>
              </a:defRPr>
            </a:pPr>
            <a:r>
              <a:rPr sz="1125" b="0">
                <a:solidFill>
                  <a:srgbClr val="15202B"/>
                </a:solidFill>
              </a:rPr>
              <a:t>receptor + peptide 同时高同源才删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76D645-26BA-4987-89E6-C48D1F9C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1485900" cy="2000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698799-D984-4FB7-97E0-61CB8F3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09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1E9361-5407-471D-ADFA-61EFA884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509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CF0D53-4A86-42FC-8074-E9EF905B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051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metadata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64A633-2BF0-4A7B-AF0D-88C9260A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90900"/>
            <a:ext cx="1181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5202B"/>
                </a:solidFill>
              </a:defRPr>
            </a:pPr>
            <a:r>
              <a:rPr sz="1125" b="0">
                <a:solidFill>
                  <a:srgbClr val="15202B"/>
                </a:solidFill>
              </a:rPr>
              <a:t>生成训练所需序列与 patch 信息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F2A4F-7CAD-40C4-8212-DB977C7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1009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9525">
            <a:solidFill>
              <a:srgbClr val="A5D8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69B509-78F8-4A2A-BFC2-3DAE250A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530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44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一句话：热点锚点生成候选，单条质量过滤，平均接触数抽样，联合受体/多肽去重。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816D4A-D030-4FC3-8308-178835A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2/12</a:t>
            </a:r>
          </a:p>
        </p:txBody>
      </p:sp>
    </p:spTree>
    <p:extLst>
      <p:ext uri="{BB962C8B-B14F-4D97-AF65-F5344CB8AC3E}">
        <p14:creationId xmlns:p14="http://schemas.microsoft.com/office/powerpoint/2010/main" val="1099449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B46AE-6235-4E7A-8412-4FADB4A3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STEPS 1-3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DA971-482B-4A1F-851A-B3C8D1D7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从结构质控到热点候选生成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FE2FF-2159-487F-93BD-43D672BC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核心变化在 Step3：不再纯 top16，而是按长度段给不同候选留入口。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43BEE-D286-4768-9A11-E1174DE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7E8FF-AF38-4E1C-99DC-CF76399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346CB-71BC-4C0C-8B62-00FC8016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Step 1 结构级质控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C8648-10B2-4F15-AC3C-4DD9158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762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读取 mmCIF；保留有效蛋白链数量足够的结构；检查链间有效接触和最小界面面积；过滤蛋白链不足、无接触、弱界面结构。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D7B4A-5886-49B1-BFD2-27F754B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CB212-20D5-40F5-BF8D-489816EF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0A333-174E-4E25-89C4-CEBE3F6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Step 2 双向任务生成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21251-7BF3-479C-B02D-DB09E412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24175"/>
            <a:ext cx="2762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对每对接触链生成两个方向：A 作 receptor、B 作 peptide source；B 作 receptor、A 作 peptide source。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798FC-B0C2-434A-9F0C-7FC44692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664CE-02C2-4F40-9198-32DA467B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3BE89-E3A9-4270-AFD6-485F64FB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Step 3 热点锚点窗口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63C28-70BB-4757-AC77-DF177D5A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2762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seed residue 需直接接触 receptor；anchor 按直接接触数和局部 avg_contact_count 排序；NMS 去相邻重复；每 task 最多 3 个 anchor。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DA6BD-0FB3-499B-BBBD-1270B746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803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Step3 默认：min_anchor_contact_count=2；max_anchors_per_task=3；max_candidates_per_task=16；窗口长度 8-20 aa。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3EE1E-800F-4FD2-A5FE-5AD6780A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590C"/>
                </a:solidFill>
              </a:defRPr>
            </a:pPr>
            <a:r>
              <a:rPr sz="1500" b="1">
                <a:solidFill>
                  <a:srgbClr val="E8590C"/>
                </a:solidFill>
              </a:rPr>
              <a:t>最新已实现：8-10 aa 最多 6 条，11-14 aa 最多 6 条，15-20 aa 最多 4 条；不足时按 avg_contact_count 回填。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3D982-81C9-4432-BF3B-2D604E64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3/12</a:t>
            </a:r>
          </a:p>
        </p:txBody>
      </p:sp>
    </p:spTree>
    <p:extLst>
      <p:ext uri="{BB962C8B-B14F-4D97-AF65-F5344CB8AC3E}">
        <p14:creationId xmlns:p14="http://schemas.microsoft.com/office/powerpoint/2010/main" val="1623591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C89C7-90DF-4BCF-ACCE-5F7580E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STEPS 4-5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AEFF5-55E9-412A-9D6C-8E59B97B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单条质量过滤 + 带权抽样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D86E2-1ACF-4971-832C-7AF5F81D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Step4 不做近重复去冗余，只判断单条窗口是否结构连续、接触充分；Step5 再保留代表样本。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1746E-29C9-41D7-8A66-49070C8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F25F5-0ED3-426A-96AF-94871AF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4762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9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915C3-B15D-43B4-8BAF-B7EF8127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6697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Step 4 单条候选质量过滤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DD622-7909-4399-BC7E-9217EE5A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4381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回原始结构重新切出窗口；检查窗口边界和主链连续性；重新计算 avg_contact_count 与 contact_coverage；当前保守基线条件为 avg_contact_count &gt;= 3.5 且 contact_coverage &gt;= 0.5。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73DD4-F74E-4FE7-85E6-7B1CDAFC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DA1EB-AD4F-4AF1-96B3-C45D35A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7DD9B-9E24-4A42-A318-8C66A66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6697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Step 5 带权抽样与长度约束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66FAB-7FD7-458D-9D09-581A758C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24175"/>
            <a:ext cx="4381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每个 task 最多保留 4 条；sampling_weight = avg_contact_count；加入 max_len8_per_task=2：如果存在非 8-mer，则最多保留 2 条 8-mer；如果只有 8-mer，则允许兜底。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082B2-D317-445B-B809-E564706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D8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75E6C-3AE8-4B00-9AB2-997756E9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801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目标：先让进入抽样池的候选“说得过去”，再用随机性和轻量长度约束避免 task 内完全被短肽占满。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D3E00-1629-49D5-90DD-2ED64E9A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4/12</a:t>
            </a:r>
          </a:p>
        </p:txBody>
      </p:sp>
    </p:spTree>
    <p:extLst>
      <p:ext uri="{BB962C8B-B14F-4D97-AF65-F5344CB8AC3E}">
        <p14:creationId xmlns:p14="http://schemas.microsoft.com/office/powerpoint/2010/main" val="639025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A5F99-C25A-4D07-AE24-6E4FEA22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STEPS 6-7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79C7F-0AFC-4CAF-BAB2-0FDB6AC5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联合 receptor + peptide 去重，再生成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A4E18-9434-49BF-95A8-9C9EF716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只删除真正近重复样本，不因为 receptor 相似就误删不同 peptide。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2DE1-0B48-4D2B-AEDE-BD99ADD4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38EFF-C8DE-4DD4-8F23-5CAD6759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8F600-6C4B-44BF-8129-F4C816C8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Step 6 联合同源去重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3A0FE-CF0E-4BDE-9C98-32713928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4572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给每条候选补 receptor sequence 和 peptide sequence；代表优先级：长肽优先、avg_contact_count 高优先、coverage 高优先；只有 receptor_identity &gt;= 0.85、peptide_identity &gt;= 0.85 且短/长长度覆盖 &gt;= 0.70 时才视为重复。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2A9CC-6D2B-4DDB-AE7F-C1FD8E3A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BD8D5-CC42-4824-A99F-51AF3556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762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F0230-C37B-426A-82F5-DAA00EF6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Step 7 最终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CCCAC-0266-4B95-9B13-258F12ED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28925"/>
            <a:ext cx="4381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读取 main 和 monitor；回原始结构定位 peptide window；生成 peptide sequence、receptor local patch residue ids、peptide residue ids、split 标记和 proxy cap 信息；patch_cutoff = 6.0。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EEF86-084F-48FD-B136-83947AEC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590C"/>
                </a:solidFill>
              </a:defRPr>
            </a:pPr>
            <a:r>
              <a:rPr sz="1650" b="1">
                <a:solidFill>
                  <a:srgbClr val="E8590C"/>
                </a:solidFill>
              </a:rPr>
              <a:t>关键原则：同一个 receptor pocket 可以结合不同 peptide；必须 receptor 和 peptide 同时高度相似，才删除。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7A645-0B10-463B-8911-FC7330E1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5/12</a:t>
            </a:r>
          </a:p>
        </p:txBody>
      </p:sp>
    </p:spTree>
    <p:extLst>
      <p:ext uri="{BB962C8B-B14F-4D97-AF65-F5344CB8AC3E}">
        <p14:creationId xmlns:p14="http://schemas.microsoft.com/office/powerpoint/2010/main" val="1783338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1B7D1-D6C3-4B37-88D5-79CC7FE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DEFAULT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8BF3A-3937-456C-8425-7DED4A88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当前核心默认参数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FD274-AD34-4D1D-924D-204F42D6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当前推荐主结果以 full_run_v4 对应参数为准。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F830C-ABC0-40BE-BF74-AE937F5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066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AD61F-2EC2-4369-8289-6EC97E40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941F6-8887-4E58-9ECA-9884C7C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002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884B5-53C2-4757-9138-6D658715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893F5-1F8F-4CAC-AB03-0D50827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002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98DF0-8D2E-4662-B9F5-53BE9BD2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DFF7C-D903-4413-AE4B-4F415BF6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002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当前值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5DA25-16A1-41AC-ACF7-34920ED7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526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4BB1B-33CD-491D-8D1C-E344E5B8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002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9A54E-B024-43AE-A9D2-91D6550E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9756F-1E95-4FC1-9936-60ACC784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098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7D4DC-8CA7-495C-8E7D-C520FB7A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B26E4-A9BC-438D-9689-56B1D166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98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min_anchor_contact_count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72074-C268-4B87-B558-D8254560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2E0B9-2C17-48AB-9D20-EB8A2E31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098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22C49-D838-4DF3-B5C2-4A1ED761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622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5A052-3D99-4313-BF28-CB216F8B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4098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定义热点 seed 的最低直接接触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C1681-6384-477A-A209-1C3F79F6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717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DE5AB-5C56-4192-9C42-39FE1FF4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194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EE7DA-8A8C-4BCB-BD05-B60126DE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717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B6A2A-6057-48E8-B400-0F029FE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194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max_anchors_per_task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398D7-22F1-46F3-86C8-1DE45203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717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467B5-1DD5-471C-AAF3-D6296BA3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194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F7280-FD2E-475A-AD7A-6F6A1104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717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F73962-4B22-482D-B145-D8D79485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194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控制每个 task 的热点数量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35C37-0E94-4A48-BD42-BBC00ADB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8F987-C6F6-4D04-A0B9-A42B2701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289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EDDE07-F688-431B-A84E-1A0EE9A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813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45DD44-9A78-430B-A584-84339B04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289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max_candidates_per_task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A15C1-97AE-4CBE-AFF0-0DF022C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813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B062AF-522B-4A46-8A94-555E120A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289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F11BB5-F3EC-44F5-A2C6-79177067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813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EE4BA3-B917-4CCF-9DF8-AF02EA2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289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控制候选规模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3164A-41BA-4547-8299-4265748F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00F9F2-3721-4FFC-A123-27D47E5C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385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5FDA8E-CD11-4991-AB2A-061F75D2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909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2C85F2-F20A-49C9-A45A-2491D2FB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385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8-10 / 11-14 / 15-20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3FC84E-F9DE-415C-81B5-C09BD436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909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B911EB-2FB5-4CE6-BD8D-4CAF8BE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385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6 / 6 /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08954-0F32-4219-A480-2000171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909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95B494-348A-4776-B719-9E6E9891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6385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长度段候选保留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FE1784-8696-423E-BF25-E4ECB5A6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6913D6-C5F2-4388-B1AC-C08C04BC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481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214713-49A1-467B-AF2F-2CF728F6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005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3FAC5D-FA6C-4520-A8C5-3418E0C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481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min_avg_contact_count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652E75-A7D9-4703-899F-CE87D729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EED406-A1C1-49FC-8A26-18F39873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481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3.5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221DF5-FEA2-4D8E-95D0-23FC56EA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005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65823E-A655-4F12-8793-55350689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481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保证平均接触质量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662ED9-F096-48FB-A441-D61F115E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253AF8-1109-40FB-A153-DA6F2D4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577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DE6C09-55E9-443D-9790-EB74F165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100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8F5506-3F0D-4365-A5EE-6E01651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577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min_contact_coverage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367D76-BE24-4398-96DA-DF489117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100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86B0E7-E300-4BA3-AC64-3BDB468D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4577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75867C-5AE5-4797-9586-312EA1B6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1007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C1C7F7-BCC9-4E54-83A6-B4E5C32F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45770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保守基线 coverage 阈值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870FD0-D435-4A51-9374-7803D3C5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96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AAD9C6-F4B3-4BB3-B1D6-2C643CB8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672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8CAC7E-0371-4BC5-B59A-4A8070D8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96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423FD7-DE56-46EE-A51B-3D2BC1F6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672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max_keep_per_task / max_len8_per_task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12E47E-3829-4520-B134-9E240DA2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196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345250-3EA9-4BE7-86FE-7C6CD209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672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4 / 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C016C7-BA3C-4D4F-A868-C7610B7E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60144E-F083-4D98-826F-19BA353C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6727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抽样规模与 8-mer 上限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C33693-C2A7-4C20-B36D-9C86E2BE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29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C1F51E-F2CE-4694-ADD9-9C1F0BAD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768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C5795E-E915-4E69-8144-9E13AF59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29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72E96B-1535-4C70-BA8F-382C2F30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2768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identity / min_coverage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D34EB0-F480-442A-837A-99812AB8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29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38CCD5-A33A-4D89-B26F-85F1DA1D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2768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0.85 / 0.70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0090D41-4004-4EF7-AACF-EC84D47A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29225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FB7C8D-FFD3-4064-896B-08FF8C6D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276850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联合去重条件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D076EC-A6EF-44EF-AF1E-C9210078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824596-BA69-448A-A4ED-FF6EEA2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864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Step 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33FB9D-61E8-48C4-A78E-E55D17D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6388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C7F1D5-FF36-4B94-9497-D9D33B96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864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patch_cutoff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1FDEB4-38E9-4EF3-B277-7CDAAD99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6388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705DC5-0679-4FA6-A5DB-C0C22D43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6864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6.0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A94D0-4C0B-4E0B-82AA-8F7E5247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638800"/>
            <a:ext cx="2667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584505-562E-41BC-ADA6-C6C0B9D5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686425"/>
            <a:ext cx="2552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局部 receptor patch 半径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C1C7BE-E3B0-4A50-A4E9-1A3AD34C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6/12</a:t>
            </a:r>
          </a:p>
        </p:txBody>
      </p:sp>
    </p:spTree>
    <p:extLst>
      <p:ext uri="{BB962C8B-B14F-4D97-AF65-F5344CB8AC3E}">
        <p14:creationId xmlns:p14="http://schemas.microsoft.com/office/powerpoint/2010/main" val="945248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07335-264D-4012-8BF3-B09DEA6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VERSION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B1E45-4610-48BF-9808-788EA8F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full_run_v2 / v3 / v4 到底分别改了什么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25202-709F-4DDB-A6E7-77ECF0E8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这一页专门说明版本差异，避免把 Step4 和 Step3 的贡献混在一起。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C627C-1FED-42F5-B37E-B7E8A261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ED659-49EF-4B9D-90B5-C9F1A98E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60F37-04FF-4CAD-8425-1E773F06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07305-C805-4646-859B-E528399A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CF03C-D90C-4A7D-9B1F-4444E168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38375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Step3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85944-789A-4ECB-A153-71553F8F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CDA6C-DA70-4C2D-8881-7EBE6F18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38375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Step4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83ABC-B942-4742-A91B-D04C5F4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F1BA5-142A-4531-ABA6-063C1A74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核心目的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8708F-387A-416F-9A56-24BB8587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6063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F6E93-3F00-4DAD-81DA-011E7B15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3688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full_run_v2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FAC31-FFFD-44CE-8235-6612E0AA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86063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B63BF-6D3C-499A-9E9E-5368A155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33688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旧版候选保留：更接近纯 avg_contact_count top16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1EEC3-329B-4AE2-81F6-D5A9ADEA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6063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DE23A-7057-49E9-BF36-D978FC0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3688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保守基线：avg_contact_count &gt;= 3.5 且 coverage &gt;=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CD824-B6DD-45A9-9B49-7BD3B69B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6063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CEAB4-3840-4774-9B4B-EC5D09F1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33688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作为保守基线版本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FFBC6-3259-4542-A6F9-7474EAA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398F2-EFB2-488C-93AD-58D941A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full_run_v3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70648-7504-4BDB-9954-B55D043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81375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9DA36-0DF8-45A1-A9C1-2426BB67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29000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与 v2 相同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93BE6D-16B8-4F11-8A5B-80AD338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1BAC2-FDC9-4B6D-B6D5-59E55063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长度自适应 coverage：8-10=0.50，11-14=0.40，15-20=0.30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62AFD-03E6-459C-8BF5-E0E11E35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FFBFB-9ADC-44B3-96EB-29F7CCB9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29000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验证 Step4 是否是长肽不足主瓶颈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19E1C-0617-4ED2-9391-215C717E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6688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4F569-B327-4850-82F7-84B312E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4313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full_run_v4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9425A-0BF0-4016-8B20-9B6B2C23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76688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490FC-8D5F-4FAA-80FF-D4972E1E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24313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按长度段保留候选：8-10=6，11-14=6，15-20=4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44FCEF-8DC1-4CFC-8529-EE05B4F4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6688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45088B-E1D3-4686-9885-1753EAB6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24313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延续当前长度自适应 Step4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2F90C1-B513-4291-8A14-D5B15357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76688"/>
            <a:ext cx="2714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BB4A5-1545-430B-AAB6-2CDF8516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24313"/>
            <a:ext cx="2600325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验证 Step3 长度段保留是否真正改善分布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252871-17CB-454C-94B0-F874D78F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B99A33-1120-4E58-8990-1ACAD19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9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846A3-2109-45CF-B605-D981381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673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590C"/>
                </a:solidFill>
              </a:defRPr>
            </a:pPr>
            <a:r>
              <a:rPr sz="2250" b="1">
                <a:solidFill>
                  <a:srgbClr val="E8590C"/>
                </a:solidFill>
              </a:rPr>
              <a:t>v3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5B9F4-7384-4417-81E4-74859C45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45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反证实验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86AF46-D35D-4389-82A0-26876A71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00775"/>
            <a:ext cx="22860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证明 Step4 不是主要瓶颈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52633F-0399-4F95-BFB1-FBA17329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9587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4BC728-AA39-4F99-9BA3-F451E8AD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9587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D04CD4-EB84-4A85-B854-EB2F8DF1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673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B886"/>
                </a:solidFill>
              </a:defRPr>
            </a:pPr>
            <a:r>
              <a:rPr sz="2250" b="1">
                <a:solidFill>
                  <a:srgbClr val="12B886"/>
                </a:solidFill>
              </a:rPr>
              <a:t>v4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5269DB-9AB7-4405-BBA6-FCE51D2F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245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有效改进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B2D365-C185-4505-B13D-6E7C1BAE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00775"/>
            <a:ext cx="22860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证明 Step3 长度段保留真正起效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233316-643B-4A95-9ACC-30D0C80E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9587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029CE9-9BEA-4FC0-B2DA-7C7AED5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9587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ED1C3A-3B47-4B7B-9B22-CB49C14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67325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82F6"/>
                </a:solidFill>
              </a:defRPr>
            </a:pPr>
            <a:r>
              <a:rPr sz="2250" b="1">
                <a:solidFill>
                  <a:srgbClr val="3B82F6"/>
                </a:solidFill>
              </a:rPr>
              <a:t>当前主用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A847D4-1C5A-4D49-ADD6-AFCCAF43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245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推荐版本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A4E3DA-1EAD-4B20-A833-218550FA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200775"/>
            <a:ext cx="22860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full_run_v4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639152-17D6-4927-9A52-A7C44EB1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7/12</a:t>
            </a:r>
          </a:p>
        </p:txBody>
      </p:sp>
    </p:spTree>
    <p:extLst>
      <p:ext uri="{BB962C8B-B14F-4D97-AF65-F5344CB8AC3E}">
        <p14:creationId xmlns:p14="http://schemas.microsoft.com/office/powerpoint/2010/main" val="1324963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61AC3-8ECE-4640-977E-F84E08F9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NEGATIVE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8E3BD-AAFF-44D5-9B95-5BCF8106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Step4 coverage 自适应是反证实验，不是最终解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E018C-3541-4863-A18D-5C6FEF9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full_run_v3 复用 v2 的 Step1-Step3，只改 Step4 coverage；结果证明 Step4 不是主要瓶颈。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E2367-A730-4B77-91AD-1A42313D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E2702-E4DA-466B-9CF5-4386C859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full_run_v2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BA414-18A3-4DC9-9337-9C04799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B"/>
                </a:solidFill>
              </a:defRPr>
            </a:pPr>
            <a:r>
              <a:rPr sz="1650" b="1">
                <a:solidFill>
                  <a:srgbClr val="15202B"/>
                </a:solidFill>
              </a:rPr>
              <a:t>固定 coverage 阈值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3CE99-7975-4D92-AF12-FAE8FD6F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5B"/>
                </a:solidFill>
              </a:defRPr>
            </a:pPr>
            <a:r>
              <a:rPr sz="1800" b="1">
                <a:solidFill>
                  <a:srgbClr val="087F5B"/>
                </a:solidFill>
              </a:rPr>
              <a:t>contact_coverage &gt;= 0.50</a:t>
            </a:r>
          </a:p>
          <a:p xmlns:a="http://schemas.openxmlformats.org/drawingml/2006/main">
            <a:pPr algn="l">
              <a:defRPr sz="1800" b="1">
                <a:solidFill>
                  <a:srgbClr val="087F5B"/>
                </a:solidFill>
              </a:defRPr>
            </a:pPr>
            <a:r>
              <a:rPr sz="1800" b="1">
                <a:solidFill>
                  <a:srgbClr val="087F5B"/>
                </a:solidFill>
              </a:rPr>
              <a:t>avg_contact_count &gt;= 3.5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13F58-0CEA-4169-8BD2-4F3B470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762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0811D-3C4E-4B9B-8D40-1B928EBC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full_run_v3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765CB-3F2E-4C42-B29F-E9611B78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B"/>
                </a:solidFill>
              </a:defRPr>
            </a:pPr>
            <a:r>
              <a:rPr sz="1650" b="1">
                <a:solidFill>
                  <a:srgbClr val="15202B"/>
                </a:solidFill>
              </a:rPr>
              <a:t>长度自适应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E7A7C-0BC1-4F01-BAA3-79BA165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9090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5B"/>
                </a:solidFill>
              </a:defRPr>
            </a:pPr>
            <a:r>
              <a:rPr sz="1650" b="1">
                <a:solidFill>
                  <a:srgbClr val="087F5B"/>
                </a:solidFill>
              </a:rPr>
              <a:t>8-10 aa &gt;= 0.50</a:t>
            </a:r>
          </a:p>
          <a:p xmlns:a="http://schemas.openxmlformats.org/drawingml/2006/main">
            <a:pPr algn="l">
              <a:defRPr sz="1650" b="1">
                <a:solidFill>
                  <a:srgbClr val="087F5B"/>
                </a:solidFill>
              </a:defRPr>
            </a:pPr>
            <a:r>
              <a:rPr sz="1650" b="1">
                <a:solidFill>
                  <a:srgbClr val="087F5B"/>
                </a:solidFill>
              </a:rPr>
              <a:t>11-14 aa &gt;= 0.40</a:t>
            </a:r>
          </a:p>
          <a:p xmlns:a="http://schemas.openxmlformats.org/drawingml/2006/main">
            <a:pPr algn="l">
              <a:defRPr sz="1650" b="1">
                <a:solidFill>
                  <a:srgbClr val="087F5B"/>
                </a:solidFill>
              </a:defRPr>
            </a:pPr>
            <a:r>
              <a:rPr sz="1650" b="1">
                <a:solidFill>
                  <a:srgbClr val="087F5B"/>
                </a:solidFill>
              </a:rPr>
              <a:t>15-20 aa &gt;= 0.30</a:t>
            </a:r>
          </a:p>
          <a:p xmlns:a="http://schemas.openxmlformats.org/drawingml/2006/main">
            <a:pPr algn="l">
              <a:defRPr sz="1650" b="1">
                <a:solidFill>
                  <a:srgbClr val="087F5B"/>
                </a:solidFill>
              </a:defRPr>
            </a:pPr>
            <a:r>
              <a:rPr sz="1650" b="1">
                <a:solidFill>
                  <a:srgbClr val="087F5B"/>
                </a:solidFill>
              </a:rPr>
              <a:t>avg_contact_count &gt;= 3.5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D7E22-0D6E-4895-82E0-2E1DC0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874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590C"/>
                </a:solidFill>
              </a:defRPr>
            </a:pPr>
            <a:r>
              <a:rPr sz="1800" b="1">
                <a:solidFill>
                  <a:srgbClr val="E8590C"/>
                </a:solidFill>
              </a:rPr>
              <a:t>结果：15-20 aa 从 2,213 到 2,200，几乎没有改善。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E5D1C-1F17-46AD-93F4-00092912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8/12</a:t>
            </a:r>
          </a:p>
        </p:txBody>
      </p:sp>
    </p:spTree>
    <p:extLst>
      <p:ext uri="{BB962C8B-B14F-4D97-AF65-F5344CB8AC3E}">
        <p14:creationId xmlns:p14="http://schemas.microsoft.com/office/powerpoint/2010/main" val="1097966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8B337-128F-4754-8466-F92CE3D6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WHY V3 FAILED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5E77F-DA33-4712-A55C-BF8C8A64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v3 说明：长肽不足不是主要死在 Step4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24366-07DF-4D61-B185-03196ADD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Step4 放宽 coverage 后，整体长度结构几乎不动，因此问题更可能在 Step3 或 Step5。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E8D1B-9EBF-4099-8C98-50FE197A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81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99FF8-052B-4836-927B-305E98A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AF81C-541D-4A1F-86B1-E36D8CD3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C020B-8951-4A64-8FFB-67D1C4C5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6840C-D73A-4871-9434-E23DDA7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full_run_v2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AEB6B-5F7A-4DEB-88C5-A306723E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AACA8-8680-439C-AF33-0C0FA8F7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full_run_v3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66B2B-BE09-44C2-81F8-DD337E24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60AA9-1EAE-4F74-9B8E-7218DF8F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5E198-CF65-46F0-BAC7-12278823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26147-2946-4873-8097-EAFDE01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最终样本数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4291C-E15E-4C24-8661-DA2E522A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1F936-858C-4037-AB8C-BA50DF9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171,123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26E16-0D2C-4D13-9565-B5F18088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C38DD-0757-4E04-B127-9AB459A3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171,042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7B80C-B7F6-47DC-BDE0-18161771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24B0A-BA1D-4974-B4EE-2AABCC4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-81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01E89-14C7-43FE-AA2F-1D015466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9E0B4-BB8E-43E9-91A1-CE3BCBFC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平均 peptide 长度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BC596-D101-428E-A422-5CD31615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BA871-753A-4466-BD67-4DACD5C1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9.492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180C99-6552-4ED1-AD8B-0A76C0E2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11439-C612-416D-B01F-43A30EB4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9.490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87411-59E5-4C81-8721-5C569730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32437-481F-4928-AF04-EE51E598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几乎不变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8DA64-1639-459F-A344-184FB5CC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7C949-2AD4-494B-8423-29B32032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平均 avg_contact_count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5B069-F370-405D-9F7E-667ACAB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434480-836F-4C6D-B48F-6E20E5B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4.928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91566-9ECB-45E8-BB13-17545D1F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BB5010-15CC-478B-88B8-B2CC6C67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4.926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0A543-A50B-4D99-A2C5-4C5279D9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6C755C-4F05-429B-8D86-830C339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几乎不变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94CF17-63B1-444E-B266-5012AA49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5AFF48-937E-4804-8902-571CEC64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最小 contact_coverage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9B6B05-5A9D-48F6-960F-6B468686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5E6931-12FC-4135-9624-EED39EDE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EDF48F-B739-454E-BFD2-E20B9B6D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A5B467-5CC3-42EA-A72C-A21F45A8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E29BB9-ACCE-426D-9E31-C0601CFF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8ED07F-18D3-4ABB-86D5-73120DF3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阈值生效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39183E-151D-4F7E-836C-761BD91D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9DC2A8-630D-4895-9A36-DBAFCF17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平均 contact_coverage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37CD7F-6FE4-412F-B6F0-1CC8E193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E518D2-AE73-4C33-A703-09BE85CE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0.9181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E717DE-DC7C-4F02-938F-9CD4AABD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8E24F6-FA08-4005-8F33-A5525B08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0.9179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2897EB-E0CA-47B7-B75F-DD690411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49CFFE-1B38-4246-A975-EE9CB138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几乎不变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7A9506-2F25-42ED-B2F5-824D20CC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4A0B9E-25E2-42ED-83CF-8498058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15-20 aa 总数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56AD66-79D2-449F-82C0-2CFA3BDB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68C260-679C-43E9-AF41-DEA8F68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2,213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B06B56-432C-488F-B9CA-5AE8CEB1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B76E70-2119-4F74-9E39-2B8CD5FB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2,200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2AC19A-75A1-4A2C-871A-87C27798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C26277-B03C-44EC-8A69-FC2A1FAA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-13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8E8FFC-FF20-44F7-82FD-D752C858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333625" cy="28575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D8A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ED17FD-B905-499C-A643-7F120E3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519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90C"/>
                </a:solidFill>
              </a:defRPr>
            </a:pPr>
            <a:r>
              <a:rPr sz="1875" b="1">
                <a:solidFill>
                  <a:srgbClr val="E8590C"/>
                </a:solidFill>
              </a:rPr>
              <a:t>解释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F6E3A1-704E-45F9-B6CF-9E41DE9B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746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02B"/>
                </a:solidFill>
              </a:defRPr>
            </a:pPr>
            <a:r>
              <a:rPr sz="1425" b="0">
                <a:solidFill>
                  <a:srgbClr val="15202B"/>
                </a:solidFill>
              </a:rPr>
              <a:t>如果 Step4 coverage 是主瓶颈，v3 应该明显增加 15-20 aa。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5202B"/>
                </a:solidFill>
              </a:defRPr>
            </a:pPr>
            <a:r>
              <a:rPr sz="1425" b="0">
                <a:solidFill>
                  <a:srgbClr val="15202B"/>
                </a:solidFill>
              </a:rPr>
              <a:t>但事实没有发生，因此主要问题不在 Step4。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02A000-A126-4457-A86C-B1EDC46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29150"/>
            <a:ext cx="180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6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590C"/>
                </a:solidFill>
              </a:defRPr>
            </a:pPr>
            <a:r>
              <a:rPr sz="1500" b="1">
                <a:solidFill>
                  <a:srgbClr val="E8590C"/>
                </a:solidFill>
              </a:rPr>
              <a:t>这是一条重要反证。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59CBAD-9A36-4B3A-B5BE-02C3CE9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9/12</a:t>
            </a:r>
          </a:p>
        </p:txBody>
      </p:sp>
    </p:spTree>
    <p:extLst>
      <p:ext uri="{BB962C8B-B14F-4D97-AF65-F5344CB8AC3E}">
        <p14:creationId xmlns:p14="http://schemas.microsoft.com/office/powerpoint/2010/main" val="460513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66BFE-6371-44E0-B300-2F18AA93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EFFECTIVE 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0F204-3135-4AE0-8BBF-B0167771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full_run_v4：Step3 长度段候选保留真正起效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6B080-1731-4970-B1BE-E44AD26E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v4 带着当前 Step4 一起运行，但真正拉动长度分布的主因是 Step3 长度段候选保留。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32CD8-AE19-4832-A2B6-7598F577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81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626B1-36E9-44AA-B939-D0C5B01F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F536B-E97E-4D03-976A-9A4BDCE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D3FBD-97A9-4F1D-9480-22BA2E37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EF233-9783-4CEC-9155-FDDE5082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full_run_v2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EDA9F-C14D-4EBE-BFFB-522DCECD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99BEB-D2DA-4328-8861-7F012C04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full_run_v4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ACD45-E658-4A4D-8564-285254AA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43125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3F9A7-B2DF-4ADF-A923-10A5B648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90750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2568D-2F57-4F49-8730-7A4708BE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CA31A-FEA6-49F5-9D93-0CDD5FB1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最终样本数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BCB32-5560-4C72-9D79-777B541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495D4-3C85-4405-B77A-9EDE6638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171,123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B1F1E-3868-433B-8C08-15B63700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5017E-0878-4DA6-A898-DBE895CF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170,269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6EEE9-FFD9-45C4-8A29-474E1E38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2982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4A5D7-B5D7-4E81-8870-C0E7330C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680607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-854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156C2-D338-402B-B377-EEF2E369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1B5D5-6687-4930-A0C2-42A3B021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平均 peptide 长度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549E3-B710-4753-88A5-89A7E982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A75EB-076E-4564-A592-BBBFDC88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9.49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0563B-E7D9-46CB-9D10-4F559673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AA6F0-A98C-4EA3-8B6F-1D6D1E37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10.65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607FB-FDC7-46BD-A04A-32EFA2C1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22839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823D8-9576-4861-A1C5-AC6CF4E2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70464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明显上升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41DB0-F4C7-4DB2-9F6F-236E1F83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F5F9E-A92B-4D79-B4CB-776092D5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平均 avg_contact_count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B74E73-17D0-4BB8-BEA6-C95BB278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4067F-9990-413D-8465-87C9819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4.93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A95488-8E90-4461-9EF6-545E83C9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70878-76DB-4432-AC14-E11F90DF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4.85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0A81D6-EDAE-40BE-B472-C57D7B4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12696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364D37-00DE-494F-992B-B7FBC4B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60321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小幅下降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43264F-F993-4567-AD64-3A46B70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30EE59-25C7-4FCA-9607-9671C133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平均 contact_coverage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87F81C-E8A3-4600-B24B-B8450522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0A82C4-AFC8-408A-B72E-E2CC5FF1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0.918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34F5C3-F5E4-42F9-B106-A40DBE23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388917-B983-4637-B543-809D7053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0.915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4F2CBF-7DF7-4C88-A0FF-845D48F5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02554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A1B73-1ED0-4456-9563-2D87CEB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50179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小幅下降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22AA03-0F46-4E3D-8E9D-4180687A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CD9D51-9691-47E6-B51A-8A80A37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平均 longest_contact_run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B20775-2F93-4C05-A5F2-FD3F9C42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7D2409-564E-4149-9497-806C5680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7.92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8EE049-E7BE-43B2-9339-65CB0AC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D7C59E-1C60-4A77-A1A3-158BB057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8.61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DF9453-DD15-44E9-BE23-FB14F157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92411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C1AB0F-32C1-4392-8E16-BCF6A73D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40036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上升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FC7C57-133A-44F6-92BA-2D154C25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825631-F566-4AD1-A8A0-4FA0C180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15-20 aa 总数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F24860-D543-4B9F-9F35-5B991770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1315BE-1E61-4EC9-9ADD-35D9CC40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2,213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8D266B-C799-48F0-9474-7249B1B5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CAE4FE-76ED-40AE-ADCE-728C035E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25,309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84BF02-733E-492A-B28C-0C94B630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82268"/>
            <a:ext cx="1952625" cy="4898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668">
            <a:solidFill>
              <a:srgbClr val="D8DEE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B475E0-A831-4A82-B5B1-36C5242F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129893"/>
            <a:ext cx="1838325" cy="41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02B"/>
                </a:solidFill>
              </a:defRPr>
            </a:pPr>
            <a:r>
              <a:rPr sz="975" b="0">
                <a:solidFill>
                  <a:srgbClr val="15202B"/>
                </a:solidFill>
              </a:rPr>
              <a:t>+23,096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B07D46-13DC-4D35-BB69-48683D5C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333625" cy="28575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6FCF5"/>
          </a:solidFill>
          <a:ln xmlns:a="http://schemas.openxmlformats.org/drawingml/2006/main" w="9525">
            <a:solidFill>
              <a:srgbClr val="96F2D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1F0B97-E684-4DBD-871A-178C6F45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519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5B"/>
                </a:solidFill>
              </a:defRPr>
            </a:pPr>
            <a:r>
              <a:rPr sz="1875" b="1">
                <a:solidFill>
                  <a:srgbClr val="087F5B"/>
                </a:solidFill>
              </a:rPr>
              <a:t>判断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737490-0DFC-4B86-9872-20609743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17621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02B"/>
                </a:solidFill>
              </a:defRPr>
            </a:pPr>
            <a:r>
              <a:rPr sz="1425" b="0">
                <a:solidFill>
                  <a:srgbClr val="15202B"/>
                </a:solidFill>
              </a:rPr>
              <a:t>长肽从几乎没有，变成真正进入数据集的一部分。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5202B"/>
                </a:solidFill>
              </a:defRPr>
            </a:pPr>
            <a:r>
              <a:rPr sz="1425" b="0">
                <a:solidFill>
                  <a:srgbClr val="15202B"/>
                </a:solidFill>
              </a:rPr>
              <a:t>总样本量稳定，质量只轻微下降，说明这次改动是有效解。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647370-1A2E-48BC-BF8A-0E03B7E7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29150"/>
            <a:ext cx="180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5B"/>
                </a:solidFill>
              </a:defRPr>
            </a:pPr>
            <a:r>
              <a:rPr sz="1500" b="1">
                <a:solidFill>
                  <a:srgbClr val="087F5B"/>
                </a:solidFill>
              </a:rPr>
              <a:t>当前推荐主结果：v4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C5B6FE-8EA8-4911-A750-0AA7A28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10/12</a:t>
            </a:r>
          </a:p>
        </p:txBody>
      </p:sp>
    </p:spTree>
    <p:extLst>
      <p:ext uri="{BB962C8B-B14F-4D97-AF65-F5344CB8AC3E}">
        <p14:creationId xmlns:p14="http://schemas.microsoft.com/office/powerpoint/2010/main" val="1689159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E87BE-8C18-4C53-83A6-3411FD62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LENGTH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8758C-F4DC-4617-A934-B2DB247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v4 的长度分布明显更健康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38D0E-C053-43B8-96A0-C66953F9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短肽不再垄断，中长肽显著抬升；这是 Step3 长度段候选保留最直接的结果。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DEBE-ABCB-4A49-B1E4-3DF211E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24444-B8CB-4B2A-B495-C8B5B74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FEB97-28E9-4A2F-BC1D-9E424648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82F6"/>
                </a:solidFill>
              </a:defRPr>
            </a:pPr>
            <a:r>
              <a:rPr sz="2250" b="1">
                <a:solidFill>
                  <a:srgbClr val="3B82F6"/>
                </a:solidFill>
              </a:rPr>
              <a:t>45,355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6EF8C-811E-44A8-AC22-04441E00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46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8-mer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09332-CE8E-4D5E-B4AF-DAC6054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909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较 v2 减少 10,974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E870C-23A7-472F-9AC4-46BBEBC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86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95E50-23BA-4C01-A915-C3CC8D6D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F445F-7225-468D-A98D-E402768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574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B886"/>
                </a:solidFill>
              </a:defRPr>
            </a:pPr>
            <a:r>
              <a:rPr sz="2250" b="1">
                <a:solidFill>
                  <a:srgbClr val="12B886"/>
                </a:solidFill>
              </a:rPr>
              <a:t>30,143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4995A-0217-4A95-A289-4A26BFD4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146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11-mer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B2AED-C7B7-467A-84B2-206C3B6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3909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较 v2 增加 12,084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EE167-4E82-4B4E-9731-AAED63E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86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F497D-E1B1-4416-A17D-A05F2D81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15FF2-AAD5-406F-A57D-A058BF2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574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F00"/>
                </a:solidFill>
              </a:defRPr>
            </a:pPr>
            <a:r>
              <a:rPr sz="2250" b="1">
                <a:solidFill>
                  <a:srgbClr val="F59F00"/>
                </a:solidFill>
              </a:rPr>
              <a:t>17,799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6B74D-D73B-4702-8DAA-25CF46A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12-mer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15750-10D7-4A40-A23B-D18B475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909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较 v2 增加 9,816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99516-4C5F-4B9C-A6AD-ABDFCCE0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86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B172C-CC4F-40A3-AEA9-CCBF766E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9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BA0A2-02F3-4B12-8AD3-1DC4D5A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574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590C"/>
                </a:solidFill>
              </a:defRPr>
            </a:pPr>
            <a:r>
              <a:rPr sz="2250" b="1">
                <a:solidFill>
                  <a:srgbClr val="E8590C"/>
                </a:solidFill>
              </a:rPr>
              <a:t>15,587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82C83-AB59-416D-AD49-6DF83D46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146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15-mer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D612C2-2264-421B-99F1-439DD1A0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909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较 v2 增加 14,642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ABB76-1912-42A4-ABD2-22CCC0A8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333500" cy="209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7AA4F-AE2E-409B-A20D-FD4CCF7D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9316E-8620-4395-B9AD-82898FD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4574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048E8"/>
                </a:solidFill>
              </a:defRPr>
            </a:pPr>
            <a:r>
              <a:rPr sz="2250" b="1">
                <a:solidFill>
                  <a:srgbClr val="7048E8"/>
                </a:solidFill>
              </a:rPr>
              <a:t>430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FDA80-6445-4D91-BE4A-C6E5E15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9146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20-mer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84B16-7DCA-4E57-B713-BCF88778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390900"/>
            <a:ext cx="95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786"/>
                </a:solidFill>
              </a:defRPr>
            </a:pPr>
            <a:r>
              <a:rPr sz="1125" b="0">
                <a:solidFill>
                  <a:srgbClr val="657786"/>
                </a:solidFill>
              </a:rPr>
              <a:t>较 v2 增加 350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A01F9-3CD9-4F02-82CF-145530CB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9525">
            <a:solidFill>
              <a:srgbClr val="A5D8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56BCE2-19B6-4B63-89FE-CFAC2E56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长度统计：p50 = 10，p75 = 12，mean = 10.65；相比 v2 的 mean = 9.49，长度结构明显改善。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F2FCF1-ACE0-4B02-90B1-A37E40AC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11/12</a:t>
            </a:r>
          </a:p>
        </p:txBody>
      </p:sp>
    </p:spTree>
    <p:extLst>
      <p:ext uri="{BB962C8B-B14F-4D97-AF65-F5344CB8AC3E}">
        <p14:creationId xmlns:p14="http://schemas.microsoft.com/office/powerpoint/2010/main" val="1191319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65F5AB-9C19-4695-B0B3-59EBA9E5D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91E74-3622-49F0-AA0B-D6766103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</a:defRPr>
            </a:pPr>
            <a:r>
              <a:rPr sz="1275" b="1">
                <a:solidFill>
                  <a:srgbClr val="087F5B"/>
                </a:solidFill>
              </a:rPr>
              <a:t>FINAL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632C7-733C-4BB8-9EDB-193B3EB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</a:defRPr>
            </a:pPr>
            <a:r>
              <a:rPr sz="2475" b="1">
                <a:solidFill>
                  <a:srgbClr val="102A43"/>
                </a:solidFill>
              </a:rPr>
              <a:t>当前推荐版本：保留 v2，主用 v4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24A2D-7BFF-4E79-ABC2-E936EC6E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6"/>
                </a:solidFill>
              </a:defRPr>
            </a:pPr>
            <a:r>
              <a:rPr sz="1425" b="0">
                <a:solidFill>
                  <a:srgbClr val="657786"/>
                </a:solidFill>
              </a:rPr>
              <a:t>v2 是保守基线，v3 是 Step4 反证实验，v4 是当前更合理的主结果。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86572-E236-4BDD-8B70-64E93F1C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63C1B-E6F9-439F-A395-02022BEF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B9A2E-F8A4-48D8-9DBE-FD25FA74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保留 full_run_v2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44A2D-48AA-4030-962A-FDFEA1A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762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作为保守基线版本：结构质量强、分布偏短、适合做对照。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310C2-A834-4F60-A67C-09EBE48B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AE894-9050-427C-AE55-784A763B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9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1724F-C479-4A5F-991C-0EAAAFE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保留 full_run_v3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C94F1-09C1-415D-8541-A9CF97D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24175"/>
            <a:ext cx="2762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作为 Step4 coverage 反证实验：证明 Step4 不是长肽不足的主瓶颈。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4BDA3-8958-417F-B7FC-7B230910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7F685-4556-4349-B749-D7B6A0C3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CF3E4-07AE-4FF1-B40B-5202A01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6697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主用 full_run_v4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E8FCF-3F9A-4C81-8809-3CBA34B7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24175"/>
            <a:ext cx="2762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B"/>
                </a:solidFill>
              </a:defRPr>
            </a:pPr>
            <a:r>
              <a:rPr sz="1200" b="0">
                <a:solidFill>
                  <a:srgbClr val="15202B"/>
                </a:solidFill>
              </a:rPr>
              <a:t>作为当前推荐数据底座：长度分布显著改善，总量稳定，质量只轻微下降。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9B0E0-9DA6-44C0-AC2A-759B61B1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52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D8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1FBFF-FD9B-4D26-9E7A-87E51CA8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744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下一步重点不是继续调 Step4，而是围绕 Step3 / Step5 做更细的长度与质量平衡。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3915D-7254-477D-9E74-ECE956C8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343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786"/>
                </a:solidFill>
              </a:defRPr>
            </a:pPr>
            <a:r>
              <a:rPr sz="975" b="0">
                <a:solidFill>
                  <a:srgbClr val="657786"/>
                </a:solidFill>
              </a:rPr>
              <a:t>Phase-1 逻辑与调参复盘 · 12/12</a:t>
            </a:r>
          </a:p>
        </p:txBody>
      </p:sp>
    </p:spTree>
    <p:extLst>
      <p:ext uri="{BB962C8B-B14F-4D97-AF65-F5344CB8AC3E}">
        <p14:creationId xmlns:p14="http://schemas.microsoft.com/office/powerpoint/2010/main" val="1243018706"/>
      </p:ext>
    </p:extLst>
  </p:cSld>
</p:sld>
</file>

<file path=ppt/theme/theme1.xml><?xml version="1.0" encoding="utf-8"?>
<a:theme xmlns:a="http://schemas.openxmlformats.org/drawingml/2006/main" name="PepCLIP Phase1">
  <a:themeElements>
    <a:clrScheme name="PepCLIP Phase1">
      <a:accent1>
        <a:srgbClr val="12B886"/>
      </a:accent1>
      <a:accent2>
        <a:srgbClr val="F59F0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pCLIP Phase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2026-04-24T11:02:11.5010000Z</dcterms:created>
  <dcterms:modified xsi:type="dcterms:W3CDTF">2026-04-24T11:02:11.5010000Z</dcterms:modified>
</coreProperties>
</file>